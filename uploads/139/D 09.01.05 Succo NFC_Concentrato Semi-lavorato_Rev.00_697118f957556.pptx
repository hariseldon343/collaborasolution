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12192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8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952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795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0230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7969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754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450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557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6039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547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327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670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A4F94-B00B-47F8-B8B9-E2B71C03A125}" type="datetimeFigureOut">
              <a:rPr lang="it-IT" smtClean="0"/>
              <a:t>07/01/2025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F3528-E1FD-4841-8237-61F9A65B5D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733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0EBB997F-3F7A-9CCC-AF26-9272BFCEC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741043"/>
              </p:ext>
            </p:extLst>
          </p:nvPr>
        </p:nvGraphicFramePr>
        <p:xfrm>
          <a:off x="470176" y="236785"/>
          <a:ext cx="5915025" cy="5661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1746">
                  <a:extLst>
                    <a:ext uri="{9D8B030D-6E8A-4147-A177-3AD203B41FA5}">
                      <a16:colId xmlns:a16="http://schemas.microsoft.com/office/drawing/2014/main" val="2920528336"/>
                    </a:ext>
                  </a:extLst>
                </a:gridCol>
                <a:gridCol w="3843331">
                  <a:extLst>
                    <a:ext uri="{9D8B030D-6E8A-4147-A177-3AD203B41FA5}">
                      <a16:colId xmlns:a16="http://schemas.microsoft.com/office/drawing/2014/main" val="3878116570"/>
                    </a:ext>
                  </a:extLst>
                </a:gridCol>
                <a:gridCol w="1109948">
                  <a:extLst>
                    <a:ext uri="{9D8B030D-6E8A-4147-A177-3AD203B41FA5}">
                      <a16:colId xmlns:a16="http://schemas.microsoft.com/office/drawing/2014/main" val="433353485"/>
                    </a:ext>
                  </a:extLst>
                </a:gridCol>
              </a:tblGrid>
              <a:tr h="5661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de-DE" sz="900">
                          <a:effectLst/>
                        </a:rPr>
                        <a:t>Agrumi-Gel s.r.l.</a:t>
                      </a:r>
                      <a:endParaRPr lang="it-IT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11" marR="36511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dirty="0">
                          <a:effectLst/>
                        </a:rPr>
                        <a:t>DIAGRAMMA DI FLUSSO</a:t>
                      </a: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SUCCO NFC/CONCENTRATO SEMI-LAVORATO</a:t>
                      </a:r>
                    </a:p>
                  </a:txBody>
                  <a:tcPr marL="36511" marR="36511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dirty="0">
                          <a:effectLst/>
                        </a:rPr>
                        <a:t>D 09.01.05</a:t>
                      </a: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dirty="0">
                          <a:effectLst/>
                        </a:rPr>
                        <a:t>Rev. 00 </a:t>
                      </a:r>
                    </a:p>
                    <a:p>
                      <a:pPr algn="ctr">
                        <a:lnSpc>
                          <a:spcPct val="115000"/>
                        </a:lnSpc>
                        <a:tabLst>
                          <a:tab pos="3060065" algn="ctr"/>
                          <a:tab pos="6120130" algn="r"/>
                        </a:tabLst>
                      </a:pPr>
                      <a:r>
                        <a:rPr lang="it-IT" sz="1100" dirty="0">
                          <a:effectLst/>
                        </a:rPr>
                        <a:t>del 03/01/2025</a:t>
                      </a:r>
                      <a:endParaRPr lang="it-IT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36511" marR="36511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787982"/>
                  </a:ext>
                </a:extLst>
              </a:tr>
            </a:tbl>
          </a:graphicData>
        </a:graphic>
      </p:graphicFrame>
      <p:grpSp>
        <p:nvGrpSpPr>
          <p:cNvPr id="8" name="Gruppo 7">
            <a:extLst>
              <a:ext uri="{FF2B5EF4-FFF2-40B4-BE49-F238E27FC236}">
                <a16:creationId xmlns:a16="http://schemas.microsoft.com/office/drawing/2014/main" id="{548F95DB-D5B7-F614-0A5D-1B621205797D}"/>
              </a:ext>
            </a:extLst>
          </p:cNvPr>
          <p:cNvGrpSpPr/>
          <p:nvPr/>
        </p:nvGrpSpPr>
        <p:grpSpPr>
          <a:xfrm>
            <a:off x="2507449" y="1911634"/>
            <a:ext cx="1840475" cy="519694"/>
            <a:chOff x="2789511" y="1769569"/>
            <a:chExt cx="1276352" cy="667265"/>
          </a:xfrm>
        </p:grpSpPr>
        <p:sp>
          <p:nvSpPr>
            <p:cNvPr id="6" name="Rettangolo 5">
              <a:extLst>
                <a:ext uri="{FF2B5EF4-FFF2-40B4-BE49-F238E27FC236}">
                  <a16:creationId xmlns:a16="http://schemas.microsoft.com/office/drawing/2014/main" id="{6CDE2316-8BFA-E2D3-E0ED-8E39B6BC82FB}"/>
                </a:ext>
              </a:extLst>
            </p:cNvPr>
            <p:cNvSpPr/>
            <p:nvPr/>
          </p:nvSpPr>
          <p:spPr>
            <a:xfrm>
              <a:off x="2789512" y="1775273"/>
              <a:ext cx="1276351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59BF95C3-3841-1BA8-C34E-860E07A1B8F6}"/>
                    </a:ext>
                  </a:extLst>
                </p:cNvPr>
                <p:cNvSpPr txBox="1"/>
                <p:nvPr/>
              </p:nvSpPr>
              <p:spPr>
                <a:xfrm>
                  <a:off x="2789511" y="1769569"/>
                  <a:ext cx="1276351" cy="667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it-IT" sz="900" b="1" dirty="0"/>
                    <a:t>STOCCAGGIO TEMPORANEO</a:t>
                  </a:r>
                </a:p>
                <a:p>
                  <a:pPr algn="ctr"/>
                  <a:r>
                    <a:rPr lang="it-IT" sz="900" dirty="0"/>
                    <a:t>Tini da 10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it-IT" sz="9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9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it-IT" sz="9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r>
                    <a:rPr lang="it-IT" sz="900" dirty="0"/>
                    <a:t> o 25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it-IT" sz="9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9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it-IT" sz="9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a14:m>
                  <a:endParaRPr lang="it-IT" sz="900" dirty="0"/>
                </a:p>
                <a:p>
                  <a:pPr algn="ctr"/>
                  <a:r>
                    <a:rPr lang="it-IT" sz="900" dirty="0"/>
                    <a:t>1 ora/3,5 ore</a:t>
                  </a:r>
                </a:p>
              </p:txBody>
            </p:sp>
          </mc:Choice>
          <mc:Fallback xmlns="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59BF95C3-3841-1BA8-C34E-860E07A1B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9511" y="1769569"/>
                  <a:ext cx="1276351" cy="667265"/>
                </a:xfrm>
                <a:prstGeom prst="rect">
                  <a:avLst/>
                </a:prstGeom>
                <a:blipFill>
                  <a:blip r:embed="rId2"/>
                  <a:stretch>
                    <a:fillRect b="-235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Decisione 8">
            <a:extLst>
              <a:ext uri="{FF2B5EF4-FFF2-40B4-BE49-F238E27FC236}">
                <a16:creationId xmlns:a16="http://schemas.microsoft.com/office/drawing/2014/main" id="{BD68018D-FD30-23C3-D5A5-ED865D0C8EE8}"/>
              </a:ext>
            </a:extLst>
          </p:cNvPr>
          <p:cNvSpPr/>
          <p:nvPr/>
        </p:nvSpPr>
        <p:spPr>
          <a:xfrm>
            <a:off x="2789510" y="2730038"/>
            <a:ext cx="1276351" cy="507831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ED01BC35-AE1A-E19B-4958-B19E08649E89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3427686" y="1611208"/>
            <a:ext cx="2" cy="3004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2BC2A056-2479-CFBD-F250-D5FE5A92661A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3427686" y="2431328"/>
            <a:ext cx="0" cy="298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C4D491D-6DD9-7CD8-1BA3-FCB999CD224C}"/>
              </a:ext>
            </a:extLst>
          </p:cNvPr>
          <p:cNvSpPr txBox="1"/>
          <p:nvPr/>
        </p:nvSpPr>
        <p:spPr>
          <a:xfrm>
            <a:off x="2966661" y="2868537"/>
            <a:ext cx="9220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900" b="1" dirty="0"/>
              <a:t>CONCENTRATO</a:t>
            </a: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3CBE54A1-D05A-1392-B3F9-EF79296E2BC4}"/>
              </a:ext>
            </a:extLst>
          </p:cNvPr>
          <p:cNvGrpSpPr/>
          <p:nvPr/>
        </p:nvGrpSpPr>
        <p:grpSpPr>
          <a:xfrm>
            <a:off x="2755887" y="1271902"/>
            <a:ext cx="1309974" cy="333375"/>
            <a:chOff x="2774013" y="970803"/>
            <a:chExt cx="1309973" cy="333375"/>
          </a:xfrm>
        </p:grpSpPr>
        <p:sp>
          <p:nvSpPr>
            <p:cNvPr id="18" name="Rettangolo con angoli arrotondati 17">
              <a:extLst>
                <a:ext uri="{FF2B5EF4-FFF2-40B4-BE49-F238E27FC236}">
                  <a16:creationId xmlns:a16="http://schemas.microsoft.com/office/drawing/2014/main" id="{FB897F8C-A43E-7331-11B8-665D1DEAC6B3}"/>
                </a:ext>
              </a:extLst>
            </p:cNvPr>
            <p:cNvSpPr/>
            <p:nvPr/>
          </p:nvSpPr>
          <p:spPr>
            <a:xfrm>
              <a:off x="2790825" y="970803"/>
              <a:ext cx="1276350" cy="33337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B24201BD-3049-D621-5305-F948C1D98120}"/>
                </a:ext>
              </a:extLst>
            </p:cNvPr>
            <p:cNvSpPr txBox="1"/>
            <p:nvPr/>
          </p:nvSpPr>
          <p:spPr>
            <a:xfrm>
              <a:off x="2774013" y="1022074"/>
              <a:ext cx="13099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900" b="1" dirty="0"/>
                <a:t>SUCCO NFC RAFFINATO</a:t>
              </a:r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88C640BC-359B-DA9A-DE17-35E17B8A5B26}"/>
              </a:ext>
            </a:extLst>
          </p:cNvPr>
          <p:cNvGrpSpPr/>
          <p:nvPr/>
        </p:nvGrpSpPr>
        <p:grpSpPr>
          <a:xfrm>
            <a:off x="4367913" y="3532593"/>
            <a:ext cx="1282101" cy="412421"/>
            <a:chOff x="1466389" y="2017268"/>
            <a:chExt cx="1309975" cy="412422"/>
          </a:xfrm>
        </p:grpSpPr>
        <p:sp>
          <p:nvSpPr>
            <p:cNvPr id="43" name="Elaborazione 42">
              <a:extLst>
                <a:ext uri="{FF2B5EF4-FFF2-40B4-BE49-F238E27FC236}">
                  <a16:creationId xmlns:a16="http://schemas.microsoft.com/office/drawing/2014/main" id="{EB558CE5-1349-B8AB-A25E-A6779EA034E7}"/>
                </a:ext>
              </a:extLst>
            </p:cNvPr>
            <p:cNvSpPr/>
            <p:nvPr/>
          </p:nvSpPr>
          <p:spPr>
            <a:xfrm>
              <a:off x="1466390" y="2017268"/>
              <a:ext cx="1309974" cy="406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2048C9B9-919E-4386-42F4-5C8B495F87DD}"/>
                </a:ext>
              </a:extLst>
            </p:cNvPr>
            <p:cNvSpPr txBox="1"/>
            <p:nvPr/>
          </p:nvSpPr>
          <p:spPr>
            <a:xfrm>
              <a:off x="1466389" y="2017268"/>
              <a:ext cx="1304100" cy="412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700" b="1" dirty="0"/>
                <a:t>PRERISCALDAMENTO</a:t>
              </a:r>
            </a:p>
            <a:p>
              <a:pPr algn="ctr"/>
              <a:r>
                <a:rPr lang="it-IT" sz="700" dirty="0"/>
                <a:t>Fascio Tubiero Giannazza</a:t>
              </a:r>
            </a:p>
            <a:p>
              <a:pPr algn="ctr"/>
              <a:r>
                <a:rPr lang="it-IT" sz="700" dirty="0"/>
                <a:t>55°C ± 5</a:t>
              </a:r>
              <a:endParaRPr lang="it-IT" sz="680" dirty="0"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D3FE70EC-8628-CA27-BF6B-FEA0696DD55F}"/>
              </a:ext>
            </a:extLst>
          </p:cNvPr>
          <p:cNvGrpSpPr/>
          <p:nvPr/>
        </p:nvGrpSpPr>
        <p:grpSpPr>
          <a:xfrm>
            <a:off x="4356851" y="4167216"/>
            <a:ext cx="1313151" cy="415498"/>
            <a:chOff x="1463212" y="2017268"/>
            <a:chExt cx="1313152" cy="415499"/>
          </a:xfrm>
        </p:grpSpPr>
        <p:sp>
          <p:nvSpPr>
            <p:cNvPr id="41" name="Elaborazione 40">
              <a:extLst>
                <a:ext uri="{FF2B5EF4-FFF2-40B4-BE49-F238E27FC236}">
                  <a16:creationId xmlns:a16="http://schemas.microsoft.com/office/drawing/2014/main" id="{40FCCF34-83EB-033C-211F-5BA382BC68F1}"/>
                </a:ext>
              </a:extLst>
            </p:cNvPr>
            <p:cNvSpPr/>
            <p:nvPr/>
          </p:nvSpPr>
          <p:spPr>
            <a:xfrm>
              <a:off x="1466390" y="2017268"/>
              <a:ext cx="1309974" cy="406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2" name="CasellaDiTesto 41">
              <a:extLst>
                <a:ext uri="{FF2B5EF4-FFF2-40B4-BE49-F238E27FC236}">
                  <a16:creationId xmlns:a16="http://schemas.microsoft.com/office/drawing/2014/main" id="{0AFEB2FC-6811-D6E1-46BC-5A8394B81666}"/>
                </a:ext>
              </a:extLst>
            </p:cNvPr>
            <p:cNvSpPr txBox="1"/>
            <p:nvPr/>
          </p:nvSpPr>
          <p:spPr>
            <a:xfrm>
              <a:off x="1463212" y="2017268"/>
              <a:ext cx="1309973" cy="415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700" b="1" dirty="0"/>
                <a:t>RAFFINAZIONE</a:t>
              </a:r>
            </a:p>
            <a:p>
              <a:pPr algn="ctr"/>
              <a:r>
                <a:rPr lang="it-IT" sz="700" dirty="0"/>
                <a:t>2 FLOTTWEG da 12.000 lt/h</a:t>
              </a:r>
            </a:p>
            <a:p>
              <a:pPr algn="ctr"/>
              <a:r>
                <a:rPr lang="it-IT" sz="700" dirty="0"/>
                <a:t>Contenuto di polpa 5-8%</a:t>
              </a: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F359A60B-1FED-A8DA-06D6-3C830A43EF13}"/>
              </a:ext>
            </a:extLst>
          </p:cNvPr>
          <p:cNvGrpSpPr/>
          <p:nvPr/>
        </p:nvGrpSpPr>
        <p:grpSpPr>
          <a:xfrm>
            <a:off x="4351101" y="4804916"/>
            <a:ext cx="1309974" cy="409343"/>
            <a:chOff x="1466389" y="2017268"/>
            <a:chExt cx="1309975" cy="409344"/>
          </a:xfrm>
        </p:grpSpPr>
        <p:sp>
          <p:nvSpPr>
            <p:cNvPr id="39" name="Elaborazione 38">
              <a:extLst>
                <a:ext uri="{FF2B5EF4-FFF2-40B4-BE49-F238E27FC236}">
                  <a16:creationId xmlns:a16="http://schemas.microsoft.com/office/drawing/2014/main" id="{DF666708-1B05-3085-2869-96EA0263A89C}"/>
                </a:ext>
              </a:extLst>
            </p:cNvPr>
            <p:cNvSpPr/>
            <p:nvPr/>
          </p:nvSpPr>
          <p:spPr>
            <a:xfrm>
              <a:off x="1466390" y="2017268"/>
              <a:ext cx="1309974" cy="406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0" name="CasellaDiTesto 39">
              <a:extLst>
                <a:ext uri="{FF2B5EF4-FFF2-40B4-BE49-F238E27FC236}">
                  <a16:creationId xmlns:a16="http://schemas.microsoft.com/office/drawing/2014/main" id="{9BD4C5F2-21F5-5117-F9B1-CC23C37DE590}"/>
                </a:ext>
              </a:extLst>
            </p:cNvPr>
            <p:cNvSpPr txBox="1"/>
            <p:nvPr/>
          </p:nvSpPr>
          <p:spPr>
            <a:xfrm>
              <a:off x="1466389" y="2017268"/>
              <a:ext cx="1309974" cy="409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700" b="1" dirty="0"/>
                <a:t>CENTRIFUGAZIONE</a:t>
              </a:r>
            </a:p>
            <a:p>
              <a:pPr algn="ctr"/>
              <a:r>
                <a:rPr lang="it-IT" sz="680" dirty="0"/>
                <a:t>3 centrifughe REDA da 4000lt/h</a:t>
              </a:r>
            </a:p>
            <a:p>
              <a:pPr algn="ctr"/>
              <a:r>
                <a:rPr lang="it-IT" sz="680" dirty="0"/>
                <a:t>Contenuto di polpa 1%</a:t>
              </a:r>
            </a:p>
          </p:txBody>
        </p:sp>
      </p:grp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4F59E37C-3DE7-A748-B8E3-FF137FAA2DF1}"/>
              </a:ext>
            </a:extLst>
          </p:cNvPr>
          <p:cNvCxnSpPr>
            <a:cxnSpLocks/>
            <a:stCxn id="44" idx="2"/>
            <a:endCxn id="42" idx="0"/>
          </p:cNvCxnSpPr>
          <p:nvPr/>
        </p:nvCxnSpPr>
        <p:spPr>
          <a:xfrm>
            <a:off x="5008813" y="3945014"/>
            <a:ext cx="300" cy="222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ECBAE09-8273-33A8-03DE-71814F7021EC}"/>
              </a:ext>
            </a:extLst>
          </p:cNvPr>
          <p:cNvCxnSpPr>
            <a:cxnSpLocks/>
            <a:stCxn id="42" idx="2"/>
            <a:endCxn id="40" idx="0"/>
          </p:cNvCxnSpPr>
          <p:nvPr/>
        </p:nvCxnSpPr>
        <p:spPr>
          <a:xfrm flipH="1">
            <a:off x="5008860" y="4582714"/>
            <a:ext cx="205" cy="222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0084548-2129-72D7-1B5C-44AE15718CC1}"/>
              </a:ext>
            </a:extLst>
          </p:cNvPr>
          <p:cNvGrpSpPr/>
          <p:nvPr/>
        </p:nvGrpSpPr>
        <p:grpSpPr>
          <a:xfrm>
            <a:off x="4347923" y="5442616"/>
            <a:ext cx="1313151" cy="415498"/>
            <a:chOff x="1463212" y="2017268"/>
            <a:chExt cx="1313152" cy="415499"/>
          </a:xfrm>
        </p:grpSpPr>
        <p:sp>
          <p:nvSpPr>
            <p:cNvPr id="35" name="Elaborazione 34">
              <a:extLst>
                <a:ext uri="{FF2B5EF4-FFF2-40B4-BE49-F238E27FC236}">
                  <a16:creationId xmlns:a16="http://schemas.microsoft.com/office/drawing/2014/main" id="{E26E8EEF-ED88-7E45-BA44-53F4A1859FBF}"/>
                </a:ext>
              </a:extLst>
            </p:cNvPr>
            <p:cNvSpPr/>
            <p:nvPr/>
          </p:nvSpPr>
          <p:spPr>
            <a:xfrm>
              <a:off x="1466390" y="2017268"/>
              <a:ext cx="1309974" cy="406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D37D82D3-182F-1A6E-0627-80C1C741CD1B}"/>
                </a:ext>
              </a:extLst>
            </p:cNvPr>
            <p:cNvSpPr txBox="1"/>
            <p:nvPr/>
          </p:nvSpPr>
          <p:spPr>
            <a:xfrm>
              <a:off x="1463212" y="2017268"/>
              <a:ext cx="1309973" cy="415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700" b="1" dirty="0"/>
                <a:t>INVIO AL REPARTO PRODOTTI FINITI</a:t>
              </a:r>
            </a:p>
            <a:p>
              <a:pPr algn="ctr"/>
              <a:r>
                <a:rPr lang="it-IT" sz="700" dirty="0"/>
                <a:t>Tubazione acciaio inox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07F5155B-7878-FEAE-7473-EECCD942EB81}"/>
              </a:ext>
            </a:extLst>
          </p:cNvPr>
          <p:cNvGrpSpPr/>
          <p:nvPr/>
        </p:nvGrpSpPr>
        <p:grpSpPr>
          <a:xfrm>
            <a:off x="4356852" y="6069633"/>
            <a:ext cx="1318900" cy="523220"/>
            <a:chOff x="1466390" y="2006584"/>
            <a:chExt cx="1309974" cy="523221"/>
          </a:xfrm>
        </p:grpSpPr>
        <p:sp>
          <p:nvSpPr>
            <p:cNvPr id="33" name="Elaborazione 32">
              <a:extLst>
                <a:ext uri="{FF2B5EF4-FFF2-40B4-BE49-F238E27FC236}">
                  <a16:creationId xmlns:a16="http://schemas.microsoft.com/office/drawing/2014/main" id="{1550AB4A-9B31-DD90-6906-3E3F5419109B}"/>
                </a:ext>
              </a:extLst>
            </p:cNvPr>
            <p:cNvSpPr/>
            <p:nvPr/>
          </p:nvSpPr>
          <p:spPr>
            <a:xfrm>
              <a:off x="1466390" y="2017268"/>
              <a:ext cx="1309974" cy="473666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C597AFAE-2FCA-A8FB-2ECB-E27A66314A5A}"/>
                </a:ext>
              </a:extLst>
            </p:cNvPr>
            <p:cNvSpPr txBox="1"/>
            <p:nvPr/>
          </p:nvSpPr>
          <p:spPr>
            <a:xfrm>
              <a:off x="1467327" y="2006584"/>
              <a:ext cx="1281495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700" b="1" dirty="0"/>
                <a:t>CONCENTRAZIONE</a:t>
              </a:r>
            </a:p>
            <a:p>
              <a:pPr algn="ctr"/>
              <a:r>
                <a:rPr lang="it-IT" sz="700" dirty="0"/>
                <a:t>FMC TASTE EVAPORATOR da 15.000 lt/h a 5 effett</a:t>
              </a:r>
              <a:r>
                <a:rPr lang="it-IT" sz="680" dirty="0"/>
                <a:t>i</a:t>
              </a:r>
            </a:p>
            <a:p>
              <a:pPr algn="ctr"/>
              <a:r>
                <a:rPr lang="it-IT" sz="680" dirty="0"/>
                <a:t>70°C ± 2</a:t>
              </a:r>
              <a:endParaRPr lang="it-IT" sz="700" dirty="0"/>
            </a:p>
          </p:txBody>
        </p:sp>
      </p:grp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8AB5D58C-97AE-1505-F126-0C0E17CBDC9D}"/>
              </a:ext>
            </a:extLst>
          </p:cNvPr>
          <p:cNvCxnSpPr>
            <a:cxnSpLocks/>
            <a:stCxn id="40" idx="2"/>
            <a:endCxn id="36" idx="0"/>
          </p:cNvCxnSpPr>
          <p:nvPr/>
        </p:nvCxnSpPr>
        <p:spPr>
          <a:xfrm flipH="1">
            <a:off x="5002909" y="5214259"/>
            <a:ext cx="3179" cy="2283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7BB3FD52-AB16-71BA-8510-E92F5430C725}"/>
              </a:ext>
            </a:extLst>
          </p:cNvPr>
          <p:cNvCxnSpPr>
            <a:cxnSpLocks/>
            <a:stCxn id="36" idx="2"/>
            <a:endCxn id="34" idx="0"/>
          </p:cNvCxnSpPr>
          <p:nvPr/>
        </p:nvCxnSpPr>
        <p:spPr>
          <a:xfrm>
            <a:off x="5002909" y="5858114"/>
            <a:ext cx="0" cy="2115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a gomito 45">
            <a:extLst>
              <a:ext uri="{FF2B5EF4-FFF2-40B4-BE49-F238E27FC236}">
                <a16:creationId xmlns:a16="http://schemas.microsoft.com/office/drawing/2014/main" id="{B0D6AA6A-C148-1E81-85DF-99DBA2AE8E3C}"/>
              </a:ext>
            </a:extLst>
          </p:cNvPr>
          <p:cNvCxnSpPr>
            <a:cxnSpLocks/>
            <a:stCxn id="9" idx="3"/>
            <a:endCxn id="44" idx="0"/>
          </p:cNvCxnSpPr>
          <p:nvPr/>
        </p:nvCxnSpPr>
        <p:spPr>
          <a:xfrm>
            <a:off x="4065861" y="2983954"/>
            <a:ext cx="940228" cy="54863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3D39AD4E-49FB-5A60-B581-A18FFB996756}"/>
              </a:ext>
            </a:extLst>
          </p:cNvPr>
          <p:cNvGrpSpPr/>
          <p:nvPr/>
        </p:nvGrpSpPr>
        <p:grpSpPr>
          <a:xfrm>
            <a:off x="2726308" y="7189878"/>
            <a:ext cx="1304991" cy="495028"/>
            <a:chOff x="2788599" y="5709324"/>
            <a:chExt cx="1277262" cy="495028"/>
          </a:xfrm>
        </p:grpSpPr>
        <p:sp>
          <p:nvSpPr>
            <p:cNvPr id="57" name="Elaborazione 56">
              <a:extLst>
                <a:ext uri="{FF2B5EF4-FFF2-40B4-BE49-F238E27FC236}">
                  <a16:creationId xmlns:a16="http://schemas.microsoft.com/office/drawing/2014/main" id="{DD29CA97-818A-B750-2C06-B55C452392C1}"/>
                </a:ext>
              </a:extLst>
            </p:cNvPr>
            <p:cNvSpPr/>
            <p:nvPr/>
          </p:nvSpPr>
          <p:spPr>
            <a:xfrm>
              <a:off x="2789510" y="5709324"/>
              <a:ext cx="1276351" cy="495028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8" name="CasellaDiTesto 57">
              <a:extLst>
                <a:ext uri="{FF2B5EF4-FFF2-40B4-BE49-F238E27FC236}">
                  <a16:creationId xmlns:a16="http://schemas.microsoft.com/office/drawing/2014/main" id="{E14A8D8E-B408-C24C-2EB5-CE62209F9427}"/>
                </a:ext>
              </a:extLst>
            </p:cNvPr>
            <p:cNvSpPr txBox="1"/>
            <p:nvPr/>
          </p:nvSpPr>
          <p:spPr>
            <a:xfrm>
              <a:off x="2788599" y="5743518"/>
              <a:ext cx="12763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800" b="1" dirty="0"/>
                <a:t>FILTRAZIONE </a:t>
              </a:r>
              <a:r>
                <a:rPr lang="it-IT" sz="800" b="1" dirty="0">
                  <a:solidFill>
                    <a:srgbClr val="FF0000"/>
                  </a:solidFill>
                </a:rPr>
                <a:t>CCP2</a:t>
              </a:r>
            </a:p>
            <a:p>
              <a:pPr algn="ctr"/>
              <a:r>
                <a:rPr lang="it-IT" sz="700" dirty="0"/>
                <a:t>Limite critico: corpi estranei non superiori a 3mm</a:t>
              </a:r>
            </a:p>
          </p:txBody>
        </p:sp>
      </p:grpSp>
      <p:grpSp>
        <p:nvGrpSpPr>
          <p:cNvPr id="59" name="Gruppo 58">
            <a:extLst>
              <a:ext uri="{FF2B5EF4-FFF2-40B4-BE49-F238E27FC236}">
                <a16:creationId xmlns:a16="http://schemas.microsoft.com/office/drawing/2014/main" id="{A779A205-8793-8DC1-3503-9AEB8E6FEEF2}"/>
              </a:ext>
            </a:extLst>
          </p:cNvPr>
          <p:cNvGrpSpPr/>
          <p:nvPr/>
        </p:nvGrpSpPr>
        <p:grpSpPr>
          <a:xfrm>
            <a:off x="2681296" y="8976542"/>
            <a:ext cx="1389312" cy="409343"/>
            <a:chOff x="2715352" y="4222286"/>
            <a:chExt cx="1389312" cy="450277"/>
          </a:xfrm>
        </p:grpSpPr>
        <p:sp>
          <p:nvSpPr>
            <p:cNvPr id="60" name="Elaborazione 59">
              <a:extLst>
                <a:ext uri="{FF2B5EF4-FFF2-40B4-BE49-F238E27FC236}">
                  <a16:creationId xmlns:a16="http://schemas.microsoft.com/office/drawing/2014/main" id="{69B770D4-CF43-8599-54DD-49916594F4A3}"/>
                </a:ext>
              </a:extLst>
            </p:cNvPr>
            <p:cNvSpPr/>
            <p:nvPr/>
          </p:nvSpPr>
          <p:spPr>
            <a:xfrm>
              <a:off x="2774011" y="4256405"/>
              <a:ext cx="1309974" cy="406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1" name="CasellaDiTesto 60">
              <a:extLst>
                <a:ext uri="{FF2B5EF4-FFF2-40B4-BE49-F238E27FC236}">
                  <a16:creationId xmlns:a16="http://schemas.microsoft.com/office/drawing/2014/main" id="{7F4F66A0-2DD0-BA50-9A8F-3E178514E5AA}"/>
                </a:ext>
              </a:extLst>
            </p:cNvPr>
            <p:cNvSpPr txBox="1"/>
            <p:nvPr/>
          </p:nvSpPr>
          <p:spPr>
            <a:xfrm>
              <a:off x="2715352" y="4222286"/>
              <a:ext cx="1389312" cy="450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700" b="1" dirty="0"/>
                <a:t>TRAPPOLA MAGNETICA</a:t>
              </a:r>
            </a:p>
            <a:p>
              <a:pPr algn="ctr"/>
              <a:r>
                <a:rPr lang="it-IT" sz="680" dirty="0"/>
                <a:t>Tolleranza cattura ≥ 95% di limatura di ferro con ø 1-5mm</a:t>
              </a:r>
            </a:p>
          </p:txBody>
        </p:sp>
      </p:grpSp>
      <p:graphicFrame>
        <p:nvGraphicFramePr>
          <p:cNvPr id="62" name="Tabella 61">
            <a:extLst>
              <a:ext uri="{FF2B5EF4-FFF2-40B4-BE49-F238E27FC236}">
                <a16:creationId xmlns:a16="http://schemas.microsoft.com/office/drawing/2014/main" id="{D9148836-EEEC-0288-AA64-1C4B85C4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412084"/>
              </p:ext>
            </p:extLst>
          </p:nvPr>
        </p:nvGraphicFramePr>
        <p:xfrm>
          <a:off x="2724710" y="7806926"/>
          <a:ext cx="1302485" cy="960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485">
                  <a:extLst>
                    <a:ext uri="{9D8B030D-6E8A-4147-A177-3AD203B41FA5}">
                      <a16:colId xmlns:a16="http://schemas.microsoft.com/office/drawing/2014/main" val="1980255294"/>
                    </a:ext>
                  </a:extLst>
                </a:gridCol>
              </a:tblGrid>
              <a:tr h="274321">
                <a:tc>
                  <a:txBody>
                    <a:bodyPr/>
                    <a:lstStyle/>
                    <a:p>
                      <a:pPr algn="ctr"/>
                      <a:r>
                        <a:rPr lang="it-IT" sz="500" dirty="0">
                          <a:solidFill>
                            <a:schemeClr val="tx1"/>
                          </a:solidFill>
                        </a:rPr>
                        <a:t>DIAMETRO MAGLIE FILTRAZIONE</a:t>
                      </a:r>
                    </a:p>
                    <a:p>
                      <a:pPr algn="ctr"/>
                      <a:r>
                        <a:rPr lang="it-IT" sz="500" dirty="0">
                          <a:solidFill>
                            <a:schemeClr val="tx1"/>
                          </a:solidFill>
                        </a:rPr>
                        <a:t>FILTRO PALL</a:t>
                      </a:r>
                    </a:p>
                  </a:txBody>
                  <a:tcPr marL="91441" marR="9144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3854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it-IT" sz="900" dirty="0"/>
                        <a:t>- </a:t>
                      </a:r>
                      <a:r>
                        <a:rPr lang="it-IT" sz="500" dirty="0"/>
                        <a:t>0,5-1,5mm per succo non polposo o poco polposo</a:t>
                      </a:r>
                    </a:p>
                    <a:p>
                      <a:pPr algn="l"/>
                      <a:r>
                        <a:rPr lang="it-IT" sz="500" dirty="0"/>
                        <a:t>- 1,5-3mm per succo a medio contenuto polposo</a:t>
                      </a:r>
                    </a:p>
                    <a:p>
                      <a:pPr algn="l"/>
                      <a:r>
                        <a:rPr lang="it-IT" sz="500" dirty="0"/>
                        <a:t>- 3-7mm per prodotto polposo o con cellule</a:t>
                      </a:r>
                    </a:p>
                  </a:txBody>
                  <a:tcPr marL="91441" marR="91441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196125"/>
                  </a:ext>
                </a:extLst>
              </a:tr>
            </a:tbl>
          </a:graphicData>
        </a:graphic>
      </p:graphicFrame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A22F76DB-AADE-0C40-C06B-140A755989AF}"/>
              </a:ext>
            </a:extLst>
          </p:cNvPr>
          <p:cNvCxnSpPr>
            <a:cxnSpLocks/>
            <a:stCxn id="62" idx="2"/>
            <a:endCxn id="61" idx="0"/>
          </p:cNvCxnSpPr>
          <p:nvPr/>
        </p:nvCxnSpPr>
        <p:spPr>
          <a:xfrm>
            <a:off x="3375952" y="8767047"/>
            <a:ext cx="0" cy="2094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2F3C6F62-091C-B655-93B8-F29EE85AFA83}"/>
              </a:ext>
            </a:extLst>
          </p:cNvPr>
          <p:cNvGrpSpPr/>
          <p:nvPr/>
        </p:nvGrpSpPr>
        <p:grpSpPr>
          <a:xfrm>
            <a:off x="2681296" y="9626399"/>
            <a:ext cx="1389312" cy="369895"/>
            <a:chOff x="2736953" y="4256405"/>
            <a:chExt cx="1389312" cy="406884"/>
          </a:xfrm>
        </p:grpSpPr>
        <p:sp>
          <p:nvSpPr>
            <p:cNvPr id="65" name="Elaborazione 64">
              <a:extLst>
                <a:ext uri="{FF2B5EF4-FFF2-40B4-BE49-F238E27FC236}">
                  <a16:creationId xmlns:a16="http://schemas.microsoft.com/office/drawing/2014/main" id="{31D2A2A6-A9D7-770E-58FB-D9B145494040}"/>
                </a:ext>
              </a:extLst>
            </p:cNvPr>
            <p:cNvSpPr/>
            <p:nvPr/>
          </p:nvSpPr>
          <p:spPr>
            <a:xfrm>
              <a:off x="2774011" y="4256405"/>
              <a:ext cx="1309974" cy="406884"/>
            </a:xfrm>
            <a:prstGeom prst="flowChartProcess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6" name="CasellaDiTesto 65">
              <a:extLst>
                <a:ext uri="{FF2B5EF4-FFF2-40B4-BE49-F238E27FC236}">
                  <a16:creationId xmlns:a16="http://schemas.microsoft.com/office/drawing/2014/main" id="{EB1A82B5-81BF-D2B7-0089-585182E4DEAF}"/>
                </a:ext>
              </a:extLst>
            </p:cNvPr>
            <p:cNvSpPr txBox="1"/>
            <p:nvPr/>
          </p:nvSpPr>
          <p:spPr>
            <a:xfrm>
              <a:off x="2736953" y="4292261"/>
              <a:ext cx="1389312" cy="335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700" b="1" dirty="0"/>
                <a:t>CONFEZIONAMENTO</a:t>
              </a:r>
            </a:p>
            <a:p>
              <a:pPr algn="ctr"/>
              <a:r>
                <a:rPr lang="it-IT" sz="680" dirty="0"/>
                <a:t>RIEMPITRICE ASTEPO</a:t>
              </a:r>
            </a:p>
          </p:txBody>
        </p:sp>
      </p:grp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D181F312-661D-04B0-EF03-AD168F187914}"/>
              </a:ext>
            </a:extLst>
          </p:cNvPr>
          <p:cNvCxnSpPr>
            <a:cxnSpLocks/>
            <a:stCxn id="61" idx="2"/>
            <a:endCxn id="66" idx="0"/>
          </p:cNvCxnSpPr>
          <p:nvPr/>
        </p:nvCxnSpPr>
        <p:spPr>
          <a:xfrm>
            <a:off x="3375952" y="9409585"/>
            <a:ext cx="0" cy="2257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F65DAD5D-1D57-E2EE-735F-95D999158960}"/>
              </a:ext>
            </a:extLst>
          </p:cNvPr>
          <p:cNvGrpSpPr/>
          <p:nvPr/>
        </p:nvGrpSpPr>
        <p:grpSpPr>
          <a:xfrm>
            <a:off x="2718355" y="10236805"/>
            <a:ext cx="1307498" cy="507830"/>
            <a:chOff x="2778689" y="1051273"/>
            <a:chExt cx="1288486" cy="274815"/>
          </a:xfrm>
        </p:grpSpPr>
        <p:sp>
          <p:nvSpPr>
            <p:cNvPr id="69" name="Rettangolo con angoli arrotondati 68">
              <a:extLst>
                <a:ext uri="{FF2B5EF4-FFF2-40B4-BE49-F238E27FC236}">
                  <a16:creationId xmlns:a16="http://schemas.microsoft.com/office/drawing/2014/main" id="{66255054-FEF0-3CD7-AF90-B53684B1CF94}"/>
                </a:ext>
              </a:extLst>
            </p:cNvPr>
            <p:cNvSpPr/>
            <p:nvPr/>
          </p:nvSpPr>
          <p:spPr>
            <a:xfrm>
              <a:off x="2790825" y="1054477"/>
              <a:ext cx="1276350" cy="271611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70" name="CasellaDiTesto 69">
              <a:extLst>
                <a:ext uri="{FF2B5EF4-FFF2-40B4-BE49-F238E27FC236}">
                  <a16:creationId xmlns:a16="http://schemas.microsoft.com/office/drawing/2014/main" id="{9CA03A4D-7F05-C247-322A-AB4DE036CB4E}"/>
                </a:ext>
              </a:extLst>
            </p:cNvPr>
            <p:cNvSpPr txBox="1"/>
            <p:nvPr/>
          </p:nvSpPr>
          <p:spPr>
            <a:xfrm>
              <a:off x="2778689" y="1051273"/>
              <a:ext cx="1280904" cy="274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900" b="1" dirty="0"/>
                <a:t>SUCCO NFC/CONCENTRATO CONGELATO IN FUSTI</a:t>
              </a:r>
            </a:p>
          </p:txBody>
        </p:sp>
      </p:grp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C3D97B08-52CF-E3EC-EB30-7A2D83A5D253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3371953" y="9976108"/>
            <a:ext cx="302" cy="248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ttore 2 77">
            <a:extLst>
              <a:ext uri="{FF2B5EF4-FFF2-40B4-BE49-F238E27FC236}">
                <a16:creationId xmlns:a16="http://schemas.microsoft.com/office/drawing/2014/main" id="{2DB46B61-A442-57AB-9636-C19680F82B5B}"/>
              </a:ext>
            </a:extLst>
          </p:cNvPr>
          <p:cNvCxnSpPr>
            <a:cxnSpLocks/>
            <a:stCxn id="9" idx="2"/>
            <a:endCxn id="58" idx="0"/>
          </p:cNvCxnSpPr>
          <p:nvPr/>
        </p:nvCxnSpPr>
        <p:spPr>
          <a:xfrm flipH="1">
            <a:off x="3402674" y="3237869"/>
            <a:ext cx="677" cy="39862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a gomito 80">
            <a:extLst>
              <a:ext uri="{FF2B5EF4-FFF2-40B4-BE49-F238E27FC236}">
                <a16:creationId xmlns:a16="http://schemas.microsoft.com/office/drawing/2014/main" id="{911716F8-2243-66CE-8BD0-8B5C99ECF637}"/>
              </a:ext>
            </a:extLst>
          </p:cNvPr>
          <p:cNvCxnSpPr>
            <a:cxnSpLocks/>
            <a:stCxn id="34" idx="2"/>
            <a:endCxn id="58" idx="3"/>
          </p:cNvCxnSpPr>
          <p:nvPr/>
        </p:nvCxnSpPr>
        <p:spPr>
          <a:xfrm rot="5400000">
            <a:off x="4093307" y="6529913"/>
            <a:ext cx="846663" cy="97254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sellaDiTesto 82">
            <a:extLst>
              <a:ext uri="{FF2B5EF4-FFF2-40B4-BE49-F238E27FC236}">
                <a16:creationId xmlns:a16="http://schemas.microsoft.com/office/drawing/2014/main" id="{AC28B512-AE23-9ABE-0B01-8AE6043E939D}"/>
              </a:ext>
            </a:extLst>
          </p:cNvPr>
          <p:cNvSpPr txBox="1"/>
          <p:nvPr/>
        </p:nvSpPr>
        <p:spPr>
          <a:xfrm>
            <a:off x="4704428" y="2749726"/>
            <a:ext cx="298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/>
              <a:t>SI</a:t>
            </a:r>
          </a:p>
        </p:txBody>
      </p:sp>
      <p:sp>
        <p:nvSpPr>
          <p:cNvPr id="84" name="CasellaDiTesto 83">
            <a:extLst>
              <a:ext uri="{FF2B5EF4-FFF2-40B4-BE49-F238E27FC236}">
                <a16:creationId xmlns:a16="http://schemas.microsoft.com/office/drawing/2014/main" id="{AA30B205-315B-5A9C-0D09-1925AEAC305E}"/>
              </a:ext>
            </a:extLst>
          </p:cNvPr>
          <p:cNvSpPr txBox="1"/>
          <p:nvPr/>
        </p:nvSpPr>
        <p:spPr>
          <a:xfrm>
            <a:off x="3021024" y="3288241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/>
              <a:t>NO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4FC5AAC-6997-92B9-3822-9E81614ACC0B}"/>
              </a:ext>
            </a:extLst>
          </p:cNvPr>
          <p:cNvSpPr txBox="1"/>
          <p:nvPr/>
        </p:nvSpPr>
        <p:spPr>
          <a:xfrm>
            <a:off x="1022591" y="11724570"/>
            <a:ext cx="4778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VERIFICATO IN DATA:</a:t>
            </a:r>
          </a:p>
        </p:txBody>
      </p:sp>
    </p:spTree>
    <p:extLst>
      <p:ext uri="{BB962C8B-B14F-4D97-AF65-F5344CB8AC3E}">
        <p14:creationId xmlns:p14="http://schemas.microsoft.com/office/powerpoint/2010/main" val="613826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</TotalTime>
  <Words>171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Ufficio Qualità</dc:creator>
  <cp:lastModifiedBy>Ufficio Qualità</cp:lastModifiedBy>
  <cp:revision>2</cp:revision>
  <cp:lastPrinted>2025-01-03T14:40:28Z</cp:lastPrinted>
  <dcterms:created xsi:type="dcterms:W3CDTF">2025-01-03T12:01:02Z</dcterms:created>
  <dcterms:modified xsi:type="dcterms:W3CDTF">2025-01-07T11:51:16Z</dcterms:modified>
</cp:coreProperties>
</file>