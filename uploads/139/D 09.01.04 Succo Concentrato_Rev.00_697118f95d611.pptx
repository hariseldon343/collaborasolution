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8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CE55-1005-4579-AF63-52E42675DB8A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4F73-6F44-4F60-A82F-3293E77BB0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9556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CE55-1005-4579-AF63-52E42675DB8A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4F73-6F44-4F60-A82F-3293E77BB0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515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CE55-1005-4579-AF63-52E42675DB8A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4F73-6F44-4F60-A82F-3293E77BB0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4122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CE55-1005-4579-AF63-52E42675DB8A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4F73-6F44-4F60-A82F-3293E77BB0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0094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CE55-1005-4579-AF63-52E42675DB8A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4F73-6F44-4F60-A82F-3293E77BB0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2506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CE55-1005-4579-AF63-52E42675DB8A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4F73-6F44-4F60-A82F-3293E77BB0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8886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CE55-1005-4579-AF63-52E42675DB8A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4F73-6F44-4F60-A82F-3293E77BB0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058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CE55-1005-4579-AF63-52E42675DB8A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4F73-6F44-4F60-A82F-3293E77BB0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108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CE55-1005-4579-AF63-52E42675DB8A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4F73-6F44-4F60-A82F-3293E77BB0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48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CE55-1005-4579-AF63-52E42675DB8A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4F73-6F44-4F60-A82F-3293E77BB0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093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CE55-1005-4579-AF63-52E42675DB8A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4F73-6F44-4F60-A82F-3293E77BB0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732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CCE55-1005-4579-AF63-52E42675DB8A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44F73-6F44-4F60-A82F-3293E77BB0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264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316558F1-EB26-A00F-E820-F689C88B7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166998"/>
              </p:ext>
            </p:extLst>
          </p:nvPr>
        </p:nvGraphicFramePr>
        <p:xfrm>
          <a:off x="470176" y="236785"/>
          <a:ext cx="5915025" cy="5661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1746">
                  <a:extLst>
                    <a:ext uri="{9D8B030D-6E8A-4147-A177-3AD203B41FA5}">
                      <a16:colId xmlns:a16="http://schemas.microsoft.com/office/drawing/2014/main" val="2920528336"/>
                    </a:ext>
                  </a:extLst>
                </a:gridCol>
                <a:gridCol w="3843331">
                  <a:extLst>
                    <a:ext uri="{9D8B030D-6E8A-4147-A177-3AD203B41FA5}">
                      <a16:colId xmlns:a16="http://schemas.microsoft.com/office/drawing/2014/main" val="3878116570"/>
                    </a:ext>
                  </a:extLst>
                </a:gridCol>
                <a:gridCol w="1109948">
                  <a:extLst>
                    <a:ext uri="{9D8B030D-6E8A-4147-A177-3AD203B41FA5}">
                      <a16:colId xmlns:a16="http://schemas.microsoft.com/office/drawing/2014/main" val="433353485"/>
                    </a:ext>
                  </a:extLst>
                </a:gridCol>
              </a:tblGrid>
              <a:tr h="5661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3060065" algn="ctr"/>
                          <a:tab pos="6120130" algn="r"/>
                        </a:tabLst>
                      </a:pPr>
                      <a:r>
                        <a:rPr lang="de-DE" sz="900">
                          <a:effectLst/>
                        </a:rPr>
                        <a:t>Agrumi-Gel s.r.l.</a:t>
                      </a:r>
                      <a:endParaRPr lang="it-I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511" marR="36511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3060065" algn="ctr"/>
                          <a:tab pos="6120130" algn="r"/>
                        </a:tabLst>
                      </a:pPr>
                      <a:r>
                        <a:rPr lang="it-IT" sz="1100" dirty="0">
                          <a:effectLst/>
                        </a:rPr>
                        <a:t>DIAGRAMMA DI FLUSSO</a:t>
                      </a:r>
                    </a:p>
                    <a:p>
                      <a:pPr algn="ctr">
                        <a:lnSpc>
                          <a:spcPct val="115000"/>
                        </a:lnSpc>
                        <a:tabLst>
                          <a:tab pos="3060065" algn="ctr"/>
                          <a:tab pos="6120130" algn="r"/>
                        </a:tabLst>
                      </a:pPr>
                      <a:r>
                        <a:rPr lang="it-IT" sz="1100" dirty="0">
                          <a:effectLst/>
                        </a:rPr>
                        <a:t>SUCCO CONCENTRATO</a:t>
                      </a:r>
                      <a:endParaRPr lang="it-I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511" marR="36511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3060065" algn="ctr"/>
                          <a:tab pos="6120130" algn="r"/>
                        </a:tabLst>
                      </a:pPr>
                      <a:r>
                        <a:rPr lang="it-IT" sz="1100" dirty="0">
                          <a:effectLst/>
                        </a:rPr>
                        <a:t>D 09.01.04</a:t>
                      </a:r>
                    </a:p>
                    <a:p>
                      <a:pPr algn="ctr">
                        <a:lnSpc>
                          <a:spcPct val="115000"/>
                        </a:lnSpc>
                        <a:tabLst>
                          <a:tab pos="3060065" algn="ctr"/>
                          <a:tab pos="6120130" algn="r"/>
                        </a:tabLst>
                      </a:pPr>
                      <a:r>
                        <a:rPr lang="it-IT" sz="1100" dirty="0">
                          <a:effectLst/>
                        </a:rPr>
                        <a:t>Rev. 00 </a:t>
                      </a:r>
                    </a:p>
                    <a:p>
                      <a:pPr algn="ctr">
                        <a:lnSpc>
                          <a:spcPct val="115000"/>
                        </a:lnSpc>
                        <a:tabLst>
                          <a:tab pos="3060065" algn="ctr"/>
                          <a:tab pos="6120130" algn="r"/>
                        </a:tabLst>
                      </a:pPr>
                      <a:r>
                        <a:rPr lang="it-IT" sz="1100">
                          <a:effectLst/>
                        </a:rPr>
                        <a:t>del 03/01/2025</a:t>
                      </a:r>
                      <a:endParaRPr lang="it-I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511" marR="36511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787982"/>
                  </a:ext>
                </a:extLst>
              </a:tr>
            </a:tbl>
          </a:graphicData>
        </a:graphic>
      </p:graphicFrame>
      <p:grpSp>
        <p:nvGrpSpPr>
          <p:cNvPr id="5" name="Gruppo 4">
            <a:extLst>
              <a:ext uri="{FF2B5EF4-FFF2-40B4-BE49-F238E27FC236}">
                <a16:creationId xmlns:a16="http://schemas.microsoft.com/office/drawing/2014/main" id="{73B8B3C6-9E95-90CF-A07A-560F1BC0D25D}"/>
              </a:ext>
            </a:extLst>
          </p:cNvPr>
          <p:cNvGrpSpPr/>
          <p:nvPr/>
        </p:nvGrpSpPr>
        <p:grpSpPr>
          <a:xfrm>
            <a:off x="2774013" y="970805"/>
            <a:ext cx="1309974" cy="333375"/>
            <a:chOff x="2774013" y="970803"/>
            <a:chExt cx="1309973" cy="333375"/>
          </a:xfrm>
        </p:grpSpPr>
        <p:sp>
          <p:nvSpPr>
            <p:cNvPr id="6" name="Rettangolo con angoli arrotondati 5">
              <a:extLst>
                <a:ext uri="{FF2B5EF4-FFF2-40B4-BE49-F238E27FC236}">
                  <a16:creationId xmlns:a16="http://schemas.microsoft.com/office/drawing/2014/main" id="{DB1A20A5-FD27-1B73-C178-37DA21185C74}"/>
                </a:ext>
              </a:extLst>
            </p:cNvPr>
            <p:cNvSpPr/>
            <p:nvPr/>
          </p:nvSpPr>
          <p:spPr>
            <a:xfrm>
              <a:off x="2790825" y="970803"/>
              <a:ext cx="1276350" cy="33337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5085ED43-BAA5-1EF6-7229-1028378066BE}"/>
                </a:ext>
              </a:extLst>
            </p:cNvPr>
            <p:cNvSpPr txBox="1"/>
            <p:nvPr/>
          </p:nvSpPr>
          <p:spPr>
            <a:xfrm>
              <a:off x="2774013" y="1022074"/>
              <a:ext cx="13099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900" b="1" dirty="0"/>
                <a:t>SUCCO NFC RAFFINATO</a:t>
              </a:r>
            </a:p>
          </p:txBody>
        </p:sp>
      </p:grp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E219412D-AD4F-121F-590A-EA6D214EEEFA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3454503" y="2588875"/>
            <a:ext cx="205" cy="222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CB02506B-86E9-A914-7499-806078E3C857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flipH="1">
            <a:off x="3454492" y="3226575"/>
            <a:ext cx="225" cy="222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a gomito 29">
            <a:extLst>
              <a:ext uri="{FF2B5EF4-FFF2-40B4-BE49-F238E27FC236}">
                <a16:creationId xmlns:a16="http://schemas.microsoft.com/office/drawing/2014/main" id="{9C74DB13-7938-386C-94AE-DF4EA1ACE53B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4112465" y="3018826"/>
            <a:ext cx="655469" cy="31885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a gomito 32">
            <a:extLst>
              <a:ext uri="{FF2B5EF4-FFF2-40B4-BE49-F238E27FC236}">
                <a16:creationId xmlns:a16="http://schemas.microsoft.com/office/drawing/2014/main" id="{24861E44-CD10-27E7-F6B7-7BB9E1898DF3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4106716" y="3337676"/>
            <a:ext cx="661218" cy="31577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CDD4A9C5-8140-57C9-5F13-D17B2D759965}"/>
              </a:ext>
            </a:extLst>
          </p:cNvPr>
          <p:cNvCxnSpPr>
            <a:cxnSpLocks/>
            <a:stCxn id="16" idx="2"/>
            <a:endCxn id="37" idx="0"/>
          </p:cNvCxnSpPr>
          <p:nvPr/>
        </p:nvCxnSpPr>
        <p:spPr>
          <a:xfrm flipH="1">
            <a:off x="3450006" y="3858120"/>
            <a:ext cx="268" cy="2283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2F3E2351-639A-80CA-064F-38AAD33D9409}"/>
              </a:ext>
            </a:extLst>
          </p:cNvPr>
          <p:cNvCxnSpPr>
            <a:cxnSpLocks/>
            <a:stCxn id="37" idx="2"/>
            <a:endCxn id="40" idx="0"/>
          </p:cNvCxnSpPr>
          <p:nvPr/>
        </p:nvCxnSpPr>
        <p:spPr>
          <a:xfrm>
            <a:off x="3448551" y="4501975"/>
            <a:ext cx="0" cy="2115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Tabella 60">
            <a:extLst>
              <a:ext uri="{FF2B5EF4-FFF2-40B4-BE49-F238E27FC236}">
                <a16:creationId xmlns:a16="http://schemas.microsoft.com/office/drawing/2014/main" id="{384D44A6-CFAC-82C1-3817-1979669AE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277677"/>
              </p:ext>
            </p:extLst>
          </p:nvPr>
        </p:nvGraphicFramePr>
        <p:xfrm>
          <a:off x="1324024" y="6576683"/>
          <a:ext cx="1309972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518">
                  <a:extLst>
                    <a:ext uri="{9D8B030D-6E8A-4147-A177-3AD203B41FA5}">
                      <a16:colId xmlns:a16="http://schemas.microsoft.com/office/drawing/2014/main" val="1897410033"/>
                    </a:ext>
                  </a:extLst>
                </a:gridCol>
                <a:gridCol w="337120">
                  <a:extLst>
                    <a:ext uri="{9D8B030D-6E8A-4147-A177-3AD203B41FA5}">
                      <a16:colId xmlns:a16="http://schemas.microsoft.com/office/drawing/2014/main" val="1680127578"/>
                    </a:ext>
                  </a:extLst>
                </a:gridCol>
                <a:gridCol w="447334">
                  <a:extLst>
                    <a:ext uri="{9D8B030D-6E8A-4147-A177-3AD203B41FA5}">
                      <a16:colId xmlns:a16="http://schemas.microsoft.com/office/drawing/2014/main" val="3532935175"/>
                    </a:ext>
                  </a:extLst>
                </a:gridCol>
              </a:tblGrid>
              <a:tr h="144132">
                <a:tc gridSpan="3">
                  <a:txBody>
                    <a:bodyPr/>
                    <a:lstStyle/>
                    <a:p>
                      <a:pPr algn="ctr"/>
                      <a:r>
                        <a:rPr lang="it-IT" sz="500" dirty="0">
                          <a:solidFill>
                            <a:schemeClr val="tx1"/>
                          </a:solidFill>
                        </a:rPr>
                        <a:t>PARAMETRI PASTORIZZATORE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702679"/>
                  </a:ext>
                </a:extLst>
              </a:tr>
              <a:tr h="144132">
                <a:tc>
                  <a:txBody>
                    <a:bodyPr/>
                    <a:lstStyle/>
                    <a:p>
                      <a:endParaRPr lang="it-IT" sz="500" dirty="0"/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500" dirty="0"/>
                        <a:t>LIM.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500" dirty="0"/>
                        <a:t>AR./MA.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014311"/>
                  </a:ext>
                </a:extLst>
              </a:tr>
              <a:tr h="209647">
                <a:tc>
                  <a:txBody>
                    <a:bodyPr/>
                    <a:lstStyle/>
                    <a:p>
                      <a:r>
                        <a:rPr lang="it-IT" sz="500" dirty="0"/>
                        <a:t>Temp. </a:t>
                      </a:r>
                      <a:r>
                        <a:rPr lang="it-IT" sz="500" dirty="0" err="1"/>
                        <a:t>Past</a:t>
                      </a:r>
                      <a:r>
                        <a:rPr lang="it-IT" sz="500" dirty="0"/>
                        <a:t>.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500" dirty="0"/>
                        <a:t>86°C ± 2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500" dirty="0"/>
                        <a:t>90°C± 2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243403"/>
                  </a:ext>
                </a:extLst>
              </a:tr>
              <a:tr h="209647">
                <a:tc>
                  <a:txBody>
                    <a:bodyPr/>
                    <a:lstStyle/>
                    <a:p>
                      <a:r>
                        <a:rPr lang="it-IT" sz="500" dirty="0"/>
                        <a:t>Tolleranza ricircolo</a:t>
                      </a:r>
                      <a:endParaRPr lang="it-IT" sz="400" dirty="0"/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500" dirty="0"/>
                        <a:t>3°C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500" dirty="0"/>
                        <a:t>3°C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704367"/>
                  </a:ext>
                </a:extLst>
              </a:tr>
              <a:tr h="340677">
                <a:tc>
                  <a:txBody>
                    <a:bodyPr/>
                    <a:lstStyle/>
                    <a:p>
                      <a:r>
                        <a:rPr lang="it-IT" sz="500" dirty="0"/>
                        <a:t>Altri parametri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500" dirty="0"/>
                        <a:t>Max flow 8700 lt/h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500" dirty="0"/>
                        <a:t>PRESSIONE MAX. 4 BAR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437156"/>
                  </a:ext>
                </a:extLst>
              </a:tr>
            </a:tbl>
          </a:graphicData>
        </a:graphic>
      </p:graphicFrame>
      <p:cxnSp>
        <p:nvCxnSpPr>
          <p:cNvPr id="69" name="Connettore a gomito 68">
            <a:extLst>
              <a:ext uri="{FF2B5EF4-FFF2-40B4-BE49-F238E27FC236}">
                <a16:creationId xmlns:a16="http://schemas.microsoft.com/office/drawing/2014/main" id="{E9D9AE7B-B2F3-4C80-E9C1-FC84FF364BCD}"/>
              </a:ext>
            </a:extLst>
          </p:cNvPr>
          <p:cNvCxnSpPr>
            <a:cxnSpLocks/>
            <a:stCxn id="47" idx="3"/>
            <a:endCxn id="64" idx="0"/>
          </p:cNvCxnSpPr>
          <p:nvPr/>
        </p:nvCxnSpPr>
        <p:spPr>
          <a:xfrm>
            <a:off x="4132454" y="5619052"/>
            <a:ext cx="831977" cy="342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a gomito 71">
            <a:extLst>
              <a:ext uri="{FF2B5EF4-FFF2-40B4-BE49-F238E27FC236}">
                <a16:creationId xmlns:a16="http://schemas.microsoft.com/office/drawing/2014/main" id="{DF711DB7-2166-04DE-0C9D-BC13F5301BCB}"/>
              </a:ext>
            </a:extLst>
          </p:cNvPr>
          <p:cNvCxnSpPr>
            <a:cxnSpLocks/>
            <a:stCxn id="47" idx="1"/>
            <a:endCxn id="60" idx="0"/>
          </p:cNvCxnSpPr>
          <p:nvPr/>
        </p:nvCxnSpPr>
        <p:spPr>
          <a:xfrm rot="10800000" flipV="1">
            <a:off x="1950533" y="5619051"/>
            <a:ext cx="863023" cy="3421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ttore 2 77">
            <a:extLst>
              <a:ext uri="{FF2B5EF4-FFF2-40B4-BE49-F238E27FC236}">
                <a16:creationId xmlns:a16="http://schemas.microsoft.com/office/drawing/2014/main" id="{61EE91EA-F874-C32D-3937-CA0D37C4B53A}"/>
              </a:ext>
            </a:extLst>
          </p:cNvPr>
          <p:cNvCxnSpPr>
            <a:cxnSpLocks/>
          </p:cNvCxnSpPr>
          <p:nvPr/>
        </p:nvCxnSpPr>
        <p:spPr>
          <a:xfrm>
            <a:off x="3455191" y="5192980"/>
            <a:ext cx="720" cy="2164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Tabella 86">
            <a:extLst>
              <a:ext uri="{FF2B5EF4-FFF2-40B4-BE49-F238E27FC236}">
                <a16:creationId xmlns:a16="http://schemas.microsoft.com/office/drawing/2014/main" id="{8C1D3708-D574-E90D-CF23-58BAA311F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866218"/>
              </p:ext>
            </p:extLst>
          </p:nvPr>
        </p:nvGraphicFramePr>
        <p:xfrm>
          <a:off x="2820249" y="8769272"/>
          <a:ext cx="1302485" cy="960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485">
                  <a:extLst>
                    <a:ext uri="{9D8B030D-6E8A-4147-A177-3AD203B41FA5}">
                      <a16:colId xmlns:a16="http://schemas.microsoft.com/office/drawing/2014/main" val="1980255294"/>
                    </a:ext>
                  </a:extLst>
                </a:gridCol>
              </a:tblGrid>
              <a:tr h="274321">
                <a:tc>
                  <a:txBody>
                    <a:bodyPr/>
                    <a:lstStyle/>
                    <a:p>
                      <a:pPr algn="ctr"/>
                      <a:r>
                        <a:rPr lang="it-IT" sz="500" dirty="0">
                          <a:solidFill>
                            <a:schemeClr val="tx1"/>
                          </a:solidFill>
                        </a:rPr>
                        <a:t>DIAMETRO MAGLIE FILTRAZIONE</a:t>
                      </a:r>
                    </a:p>
                    <a:p>
                      <a:pPr algn="ctr"/>
                      <a:r>
                        <a:rPr lang="it-IT" sz="500" dirty="0">
                          <a:solidFill>
                            <a:schemeClr val="tx1"/>
                          </a:solidFill>
                        </a:rPr>
                        <a:t>FILTRO PALL</a:t>
                      </a:r>
                    </a:p>
                  </a:txBody>
                  <a:tcPr marL="91441" marR="9144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3854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it-IT" sz="900" dirty="0"/>
                        <a:t>- </a:t>
                      </a:r>
                      <a:r>
                        <a:rPr lang="it-IT" sz="500" dirty="0"/>
                        <a:t>0,5-1,5mm per succo non polposo o poco polposo</a:t>
                      </a:r>
                    </a:p>
                    <a:p>
                      <a:pPr algn="l"/>
                      <a:r>
                        <a:rPr lang="it-IT" sz="500" dirty="0"/>
                        <a:t>- 1,5-3mm per succo a medio contenuto polposo</a:t>
                      </a:r>
                    </a:p>
                    <a:p>
                      <a:pPr algn="l"/>
                      <a:r>
                        <a:rPr lang="it-IT" sz="500" dirty="0"/>
                        <a:t>- 3-7mm per prodotto polposo o con cellule</a:t>
                      </a:r>
                    </a:p>
                  </a:txBody>
                  <a:tcPr marL="91441" marR="9144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196125"/>
                  </a:ext>
                </a:extLst>
              </a:tr>
            </a:tbl>
          </a:graphicData>
        </a:graphic>
      </p:graphicFrame>
      <p:cxnSp>
        <p:nvCxnSpPr>
          <p:cNvPr id="89" name="Connettore a gomito 88">
            <a:extLst>
              <a:ext uri="{FF2B5EF4-FFF2-40B4-BE49-F238E27FC236}">
                <a16:creationId xmlns:a16="http://schemas.microsoft.com/office/drawing/2014/main" id="{431CF680-FE7F-A7A7-A2EA-29D78FFDB5C2}"/>
              </a:ext>
            </a:extLst>
          </p:cNvPr>
          <p:cNvCxnSpPr>
            <a:cxnSpLocks/>
            <a:stCxn id="61" idx="2"/>
            <a:endCxn id="83" idx="1"/>
          </p:cNvCxnSpPr>
          <p:nvPr/>
        </p:nvCxnSpPr>
        <p:spPr>
          <a:xfrm rot="16200000" flipH="1">
            <a:off x="2102161" y="7672731"/>
            <a:ext cx="595195" cy="84149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ttore a gomito 92">
            <a:extLst>
              <a:ext uri="{FF2B5EF4-FFF2-40B4-BE49-F238E27FC236}">
                <a16:creationId xmlns:a16="http://schemas.microsoft.com/office/drawing/2014/main" id="{BEC67D19-5BA4-C47E-5A42-214AD8BE2BF8}"/>
              </a:ext>
            </a:extLst>
          </p:cNvPr>
          <p:cNvCxnSpPr>
            <a:cxnSpLocks/>
            <a:stCxn id="64" idx="2"/>
            <a:endCxn id="83" idx="3"/>
          </p:cNvCxnSpPr>
          <p:nvPr/>
        </p:nvCxnSpPr>
        <p:spPr>
          <a:xfrm rot="5400000">
            <a:off x="3534236" y="6960883"/>
            <a:ext cx="2020526" cy="83986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806C72DF-E2D5-4CA7-E0BC-D3C289AECD8F}"/>
              </a:ext>
            </a:extLst>
          </p:cNvPr>
          <p:cNvCxnSpPr>
            <a:cxnSpLocks/>
            <a:stCxn id="87" idx="2"/>
            <a:endCxn id="86" idx="0"/>
          </p:cNvCxnSpPr>
          <p:nvPr/>
        </p:nvCxnSpPr>
        <p:spPr>
          <a:xfrm flipH="1">
            <a:off x="3470151" y="9729393"/>
            <a:ext cx="1340" cy="198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ttore 2 102">
            <a:extLst>
              <a:ext uri="{FF2B5EF4-FFF2-40B4-BE49-F238E27FC236}">
                <a16:creationId xmlns:a16="http://schemas.microsoft.com/office/drawing/2014/main" id="{532C11DF-A693-7D8C-969B-1FE37D00C534}"/>
              </a:ext>
            </a:extLst>
          </p:cNvPr>
          <p:cNvCxnSpPr>
            <a:cxnSpLocks/>
            <a:stCxn id="86" idx="2"/>
            <a:endCxn id="101" idx="0"/>
          </p:cNvCxnSpPr>
          <p:nvPr/>
        </p:nvCxnSpPr>
        <p:spPr>
          <a:xfrm flipH="1">
            <a:off x="3465912" y="10326689"/>
            <a:ext cx="782" cy="236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uppo 49">
            <a:extLst>
              <a:ext uri="{FF2B5EF4-FFF2-40B4-BE49-F238E27FC236}">
                <a16:creationId xmlns:a16="http://schemas.microsoft.com/office/drawing/2014/main" id="{7A3D249B-195E-8704-E511-A5ABE9550026}"/>
              </a:ext>
            </a:extLst>
          </p:cNvPr>
          <p:cNvGrpSpPr/>
          <p:nvPr/>
        </p:nvGrpSpPr>
        <p:grpSpPr>
          <a:xfrm>
            <a:off x="1295545" y="2176454"/>
            <a:ext cx="4748740" cy="9355902"/>
            <a:chOff x="1267065" y="1531920"/>
            <a:chExt cx="4748740" cy="9355902"/>
          </a:xfrm>
        </p:grpSpPr>
        <p:grpSp>
          <p:nvGrpSpPr>
            <p:cNvPr id="49" name="Gruppo 48">
              <a:extLst>
                <a:ext uri="{FF2B5EF4-FFF2-40B4-BE49-F238E27FC236}">
                  <a16:creationId xmlns:a16="http://schemas.microsoft.com/office/drawing/2014/main" id="{8262DFC8-BAAE-90FD-B335-22F70A47FE32}"/>
                </a:ext>
              </a:extLst>
            </p:cNvPr>
            <p:cNvGrpSpPr/>
            <p:nvPr/>
          </p:nvGrpSpPr>
          <p:grpSpPr>
            <a:xfrm>
              <a:off x="2785075" y="1531920"/>
              <a:ext cx="1282101" cy="412421"/>
              <a:chOff x="2785075" y="1531920"/>
              <a:chExt cx="1282101" cy="412421"/>
            </a:xfrm>
          </p:grpSpPr>
          <p:sp>
            <p:nvSpPr>
              <p:cNvPr id="9" name="Elaborazione 8">
                <a:extLst>
                  <a:ext uri="{FF2B5EF4-FFF2-40B4-BE49-F238E27FC236}">
                    <a16:creationId xmlns:a16="http://schemas.microsoft.com/office/drawing/2014/main" id="{9E104267-95E8-C490-6C11-ADD1EB698693}"/>
                  </a:ext>
                </a:extLst>
              </p:cNvPr>
              <p:cNvSpPr/>
              <p:nvPr/>
            </p:nvSpPr>
            <p:spPr>
              <a:xfrm>
                <a:off x="2785076" y="1531920"/>
                <a:ext cx="1282100" cy="406883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88DAD81-FB58-6273-ADAE-299CA98A774D}"/>
                  </a:ext>
                </a:extLst>
              </p:cNvPr>
              <p:cNvSpPr txBox="1"/>
              <p:nvPr/>
            </p:nvSpPr>
            <p:spPr>
              <a:xfrm>
                <a:off x="2785075" y="1531920"/>
                <a:ext cx="1276351" cy="412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700" b="1" dirty="0"/>
                  <a:t>PRERISCALDAMENTO</a:t>
                </a:r>
              </a:p>
              <a:p>
                <a:pPr algn="ctr"/>
                <a:r>
                  <a:rPr lang="it-IT" sz="700" dirty="0"/>
                  <a:t>Fascio Tubiero Giannazza</a:t>
                </a:r>
              </a:p>
              <a:p>
                <a:pPr algn="ctr"/>
                <a:r>
                  <a:rPr lang="it-IT" sz="700" dirty="0"/>
                  <a:t>55°C ± 5</a:t>
                </a:r>
                <a:endParaRPr lang="it-IT" sz="680" dirty="0"/>
              </a:p>
            </p:txBody>
          </p:sp>
        </p:grpSp>
        <p:grpSp>
          <p:nvGrpSpPr>
            <p:cNvPr id="46" name="Gruppo 45">
              <a:extLst>
                <a:ext uri="{FF2B5EF4-FFF2-40B4-BE49-F238E27FC236}">
                  <a16:creationId xmlns:a16="http://schemas.microsoft.com/office/drawing/2014/main" id="{35DCC70D-3DCB-A8F0-C1E5-C587D221356D}"/>
                </a:ext>
              </a:extLst>
            </p:cNvPr>
            <p:cNvGrpSpPr/>
            <p:nvPr/>
          </p:nvGrpSpPr>
          <p:grpSpPr>
            <a:xfrm>
              <a:off x="2774013" y="2166543"/>
              <a:ext cx="1313151" cy="415498"/>
              <a:chOff x="2774013" y="2166543"/>
              <a:chExt cx="1313151" cy="415498"/>
            </a:xfrm>
          </p:grpSpPr>
          <p:sp>
            <p:nvSpPr>
              <p:cNvPr id="12" name="Elaborazione 11">
                <a:extLst>
                  <a:ext uri="{FF2B5EF4-FFF2-40B4-BE49-F238E27FC236}">
                    <a16:creationId xmlns:a16="http://schemas.microsoft.com/office/drawing/2014/main" id="{3C909A44-2FF2-8E1F-C62E-89CA7743157F}"/>
                  </a:ext>
                </a:extLst>
              </p:cNvPr>
              <p:cNvSpPr/>
              <p:nvPr/>
            </p:nvSpPr>
            <p:spPr>
              <a:xfrm>
                <a:off x="2777191" y="2166543"/>
                <a:ext cx="1309973" cy="406883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590D64EB-B703-C73B-D2E1-7C470BDD9E99}"/>
                  </a:ext>
                </a:extLst>
              </p:cNvPr>
              <p:cNvSpPr txBox="1"/>
              <p:nvPr/>
            </p:nvSpPr>
            <p:spPr>
              <a:xfrm>
                <a:off x="2774013" y="2166543"/>
                <a:ext cx="130997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700" b="1" dirty="0"/>
                  <a:t>RAFFINAZIONE</a:t>
                </a:r>
              </a:p>
              <a:p>
                <a:pPr algn="ctr"/>
                <a:r>
                  <a:rPr lang="it-IT" sz="700" dirty="0"/>
                  <a:t>2 FLOTTWEG da 12.000 lt/h</a:t>
                </a:r>
              </a:p>
              <a:p>
                <a:pPr algn="ctr"/>
                <a:r>
                  <a:rPr lang="it-IT" sz="700" dirty="0"/>
                  <a:t>Contenuto di polpa 5-8%</a:t>
                </a:r>
              </a:p>
            </p:txBody>
          </p:sp>
        </p:grpSp>
        <p:grpSp>
          <p:nvGrpSpPr>
            <p:cNvPr id="44" name="Gruppo 43">
              <a:extLst>
                <a:ext uri="{FF2B5EF4-FFF2-40B4-BE49-F238E27FC236}">
                  <a16:creationId xmlns:a16="http://schemas.microsoft.com/office/drawing/2014/main" id="{2C147A27-B47C-7F8E-AEBB-D57FB9C2DBAA}"/>
                </a:ext>
              </a:extLst>
            </p:cNvPr>
            <p:cNvGrpSpPr/>
            <p:nvPr/>
          </p:nvGrpSpPr>
          <p:grpSpPr>
            <a:xfrm>
              <a:off x="2768263" y="2804243"/>
              <a:ext cx="1309974" cy="409343"/>
              <a:chOff x="2768263" y="2804243"/>
              <a:chExt cx="1309974" cy="409343"/>
            </a:xfrm>
          </p:grpSpPr>
          <p:sp>
            <p:nvSpPr>
              <p:cNvPr id="15" name="Elaborazione 14">
                <a:extLst>
                  <a:ext uri="{FF2B5EF4-FFF2-40B4-BE49-F238E27FC236}">
                    <a16:creationId xmlns:a16="http://schemas.microsoft.com/office/drawing/2014/main" id="{3FF0815A-6CCF-195B-F4EC-C3E0ED731D6B}"/>
                  </a:ext>
                </a:extLst>
              </p:cNvPr>
              <p:cNvSpPr/>
              <p:nvPr/>
            </p:nvSpPr>
            <p:spPr>
              <a:xfrm>
                <a:off x="2768264" y="2804243"/>
                <a:ext cx="1309973" cy="406883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02129267-A6E6-2A33-F5E3-9E19475AE255}"/>
                  </a:ext>
                </a:extLst>
              </p:cNvPr>
              <p:cNvSpPr txBox="1"/>
              <p:nvPr/>
            </p:nvSpPr>
            <p:spPr>
              <a:xfrm>
                <a:off x="2768263" y="2804243"/>
                <a:ext cx="1309973" cy="409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700" b="1" dirty="0"/>
                  <a:t>CENTRIFUGAZIONE</a:t>
                </a:r>
              </a:p>
              <a:p>
                <a:pPr algn="ctr"/>
                <a:r>
                  <a:rPr lang="it-IT" sz="680" dirty="0"/>
                  <a:t>3 centrifughe REDA da 4000lt/h</a:t>
                </a:r>
              </a:p>
              <a:p>
                <a:pPr algn="ctr"/>
                <a:r>
                  <a:rPr lang="it-IT" sz="680" dirty="0"/>
                  <a:t>Contenuto di polpa 1%</a:t>
                </a:r>
              </a:p>
            </p:txBody>
          </p:sp>
        </p:grp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E507CF4C-77F3-CBB1-83D7-8A574E5CFAAE}"/>
                </a:ext>
              </a:extLst>
            </p:cNvPr>
            <p:cNvGrpSpPr/>
            <p:nvPr/>
          </p:nvGrpSpPr>
          <p:grpSpPr>
            <a:xfrm>
              <a:off x="4739454" y="2526454"/>
              <a:ext cx="1276351" cy="333375"/>
              <a:chOff x="4739454" y="2526454"/>
              <a:chExt cx="1276351" cy="333375"/>
            </a:xfrm>
          </p:grpSpPr>
          <p:sp>
            <p:nvSpPr>
              <p:cNvPr id="18" name="Rettangolo con angoli arrotondati 17">
                <a:extLst>
                  <a:ext uri="{FF2B5EF4-FFF2-40B4-BE49-F238E27FC236}">
                    <a16:creationId xmlns:a16="http://schemas.microsoft.com/office/drawing/2014/main" id="{AAFD5A9D-ED00-1F51-550B-BA070A37519B}"/>
                  </a:ext>
                </a:extLst>
              </p:cNvPr>
              <p:cNvSpPr/>
              <p:nvPr/>
            </p:nvSpPr>
            <p:spPr>
              <a:xfrm>
                <a:off x="4739454" y="2526454"/>
                <a:ext cx="1276351" cy="33337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FED13502-83A1-A6A1-4956-0896B72DBA9E}"/>
                  </a:ext>
                </a:extLst>
              </p:cNvPr>
              <p:cNvSpPr txBox="1"/>
              <p:nvPr/>
            </p:nvSpPr>
            <p:spPr>
              <a:xfrm>
                <a:off x="4768328" y="2585419"/>
                <a:ext cx="121860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sz="800" b="1" dirty="0"/>
                  <a:t>POLPE e ACQUA REFLUA</a:t>
                </a:r>
              </a:p>
            </p:txBody>
          </p:sp>
        </p:grpSp>
        <p:grpSp>
          <p:nvGrpSpPr>
            <p:cNvPr id="41" name="Gruppo 40">
              <a:extLst>
                <a:ext uri="{FF2B5EF4-FFF2-40B4-BE49-F238E27FC236}">
                  <a16:creationId xmlns:a16="http://schemas.microsoft.com/office/drawing/2014/main" id="{EF8F31B4-5D43-ABFA-2CE5-5B6E7E78DF2F}"/>
                </a:ext>
              </a:extLst>
            </p:cNvPr>
            <p:cNvGrpSpPr/>
            <p:nvPr/>
          </p:nvGrpSpPr>
          <p:grpSpPr>
            <a:xfrm>
              <a:off x="2765085" y="3441943"/>
              <a:ext cx="1313151" cy="415498"/>
              <a:chOff x="2765085" y="3441943"/>
              <a:chExt cx="1313151" cy="415498"/>
            </a:xfrm>
          </p:grpSpPr>
          <p:sp>
            <p:nvSpPr>
              <p:cNvPr id="36" name="Elaborazione 35">
                <a:extLst>
                  <a:ext uri="{FF2B5EF4-FFF2-40B4-BE49-F238E27FC236}">
                    <a16:creationId xmlns:a16="http://schemas.microsoft.com/office/drawing/2014/main" id="{B6824274-37E6-FC5B-178C-ACDC72768699}"/>
                  </a:ext>
                </a:extLst>
              </p:cNvPr>
              <p:cNvSpPr/>
              <p:nvPr/>
            </p:nvSpPr>
            <p:spPr>
              <a:xfrm>
                <a:off x="2768263" y="3441943"/>
                <a:ext cx="1309973" cy="406883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C0A78C78-EDB2-40B7-224E-1D7A94945C5F}"/>
                  </a:ext>
                </a:extLst>
              </p:cNvPr>
              <p:cNvSpPr txBox="1"/>
              <p:nvPr/>
            </p:nvSpPr>
            <p:spPr>
              <a:xfrm>
                <a:off x="2765085" y="3441943"/>
                <a:ext cx="130997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700" b="1" dirty="0"/>
                  <a:t>INVIO AL REPARTO PRODOTTI FINITI</a:t>
                </a:r>
              </a:p>
              <a:p>
                <a:pPr algn="ctr"/>
                <a:r>
                  <a:rPr lang="it-IT" sz="700" dirty="0"/>
                  <a:t>Tubazione acciaio inox</a:t>
                </a:r>
              </a:p>
            </p:txBody>
          </p:sp>
        </p:grpSp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F4541007-39A1-84B1-DFBF-ACDF23E92F53}"/>
                </a:ext>
              </a:extLst>
            </p:cNvPr>
            <p:cNvGrpSpPr/>
            <p:nvPr/>
          </p:nvGrpSpPr>
          <p:grpSpPr>
            <a:xfrm>
              <a:off x="2774014" y="4068960"/>
              <a:ext cx="1318900" cy="523220"/>
              <a:chOff x="2774014" y="4068960"/>
              <a:chExt cx="1318900" cy="523220"/>
            </a:xfrm>
          </p:grpSpPr>
          <p:sp>
            <p:nvSpPr>
              <p:cNvPr id="39" name="Elaborazione 38">
                <a:extLst>
                  <a:ext uri="{FF2B5EF4-FFF2-40B4-BE49-F238E27FC236}">
                    <a16:creationId xmlns:a16="http://schemas.microsoft.com/office/drawing/2014/main" id="{A9BF7A83-A161-3E99-AC32-F34A492CB2E6}"/>
                  </a:ext>
                </a:extLst>
              </p:cNvPr>
              <p:cNvSpPr/>
              <p:nvPr/>
            </p:nvSpPr>
            <p:spPr>
              <a:xfrm>
                <a:off x="2774014" y="4079644"/>
                <a:ext cx="1318900" cy="473665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1C011ADC-FB2D-CA11-456A-DD61044938E2}"/>
                  </a:ext>
                </a:extLst>
              </p:cNvPr>
              <p:cNvSpPr txBox="1"/>
              <p:nvPr/>
            </p:nvSpPr>
            <p:spPr>
              <a:xfrm>
                <a:off x="2774957" y="4068960"/>
                <a:ext cx="12902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700" b="1" dirty="0"/>
                  <a:t>CONCENTRAZIONE</a:t>
                </a:r>
              </a:p>
              <a:p>
                <a:pPr algn="ctr"/>
                <a:r>
                  <a:rPr lang="it-IT" sz="700" dirty="0"/>
                  <a:t>FMC TASTE EVAPORATOR da 15.000 lt/h a 5 effett</a:t>
                </a:r>
                <a:r>
                  <a:rPr lang="it-IT" sz="680" dirty="0"/>
                  <a:t>i</a:t>
                </a:r>
              </a:p>
              <a:p>
                <a:pPr algn="ctr"/>
                <a:r>
                  <a:rPr lang="it-IT" sz="680" dirty="0"/>
                  <a:t>70°C ± 2</a:t>
                </a:r>
                <a:endParaRPr lang="it-IT" sz="700" dirty="0"/>
              </a:p>
            </p:txBody>
          </p:sp>
        </p:grpSp>
        <p:grpSp>
          <p:nvGrpSpPr>
            <p:cNvPr id="32" name="Gruppo 31">
              <a:extLst>
                <a:ext uri="{FF2B5EF4-FFF2-40B4-BE49-F238E27FC236}">
                  <a16:creationId xmlns:a16="http://schemas.microsoft.com/office/drawing/2014/main" id="{E34CAAA7-86A4-DC38-E6E5-0CB1A0A5A93A}"/>
                </a:ext>
              </a:extLst>
            </p:cNvPr>
            <p:cNvGrpSpPr/>
            <p:nvPr/>
          </p:nvGrpSpPr>
          <p:grpSpPr>
            <a:xfrm>
              <a:off x="2785075" y="4771076"/>
              <a:ext cx="1318899" cy="406883"/>
              <a:chOff x="2785075" y="4771076"/>
              <a:chExt cx="1318899" cy="406883"/>
            </a:xfrm>
          </p:grpSpPr>
          <p:sp>
            <p:nvSpPr>
              <p:cNvPr id="47" name="Decisione 46">
                <a:extLst>
                  <a:ext uri="{FF2B5EF4-FFF2-40B4-BE49-F238E27FC236}">
                    <a16:creationId xmlns:a16="http://schemas.microsoft.com/office/drawing/2014/main" id="{0206B0EF-F6D2-CE47-26CA-67BE49CCD18B}"/>
                  </a:ext>
                </a:extLst>
              </p:cNvPr>
              <p:cNvSpPr/>
              <p:nvPr/>
            </p:nvSpPr>
            <p:spPr>
              <a:xfrm>
                <a:off x="2785075" y="4771076"/>
                <a:ext cx="1318899" cy="406883"/>
              </a:xfrm>
              <a:prstGeom prst="flowChartDecis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BFEFC3BF-486F-42BE-4FFC-2C8757287283}"/>
                  </a:ext>
                </a:extLst>
              </p:cNvPr>
              <p:cNvSpPr txBox="1"/>
              <p:nvPr/>
            </p:nvSpPr>
            <p:spPr>
              <a:xfrm>
                <a:off x="2902447" y="4878278"/>
                <a:ext cx="1138453" cy="20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sz="700" b="1" dirty="0"/>
                  <a:t>TRATTAMENTO TERMICO</a:t>
                </a:r>
              </a:p>
            </p:txBody>
          </p:sp>
        </p:grpSp>
        <p:grpSp>
          <p:nvGrpSpPr>
            <p:cNvPr id="31" name="Gruppo 30">
              <a:extLst>
                <a:ext uri="{FF2B5EF4-FFF2-40B4-BE49-F238E27FC236}">
                  <a16:creationId xmlns:a16="http://schemas.microsoft.com/office/drawing/2014/main" id="{D995C93A-3D05-2827-08F2-845167331344}"/>
                </a:ext>
              </a:extLst>
            </p:cNvPr>
            <p:cNvGrpSpPr/>
            <p:nvPr/>
          </p:nvGrpSpPr>
          <p:grpSpPr>
            <a:xfrm>
              <a:off x="1267065" y="5316677"/>
              <a:ext cx="1338452" cy="516415"/>
              <a:chOff x="1267065" y="5316677"/>
              <a:chExt cx="1338452" cy="516415"/>
            </a:xfrm>
          </p:grpSpPr>
          <p:sp>
            <p:nvSpPr>
              <p:cNvPr id="59" name="Elaborazione 58">
                <a:extLst>
                  <a:ext uri="{FF2B5EF4-FFF2-40B4-BE49-F238E27FC236}">
                    <a16:creationId xmlns:a16="http://schemas.microsoft.com/office/drawing/2014/main" id="{71EDCD41-E175-2306-3811-353177C022A8}"/>
                  </a:ext>
                </a:extLst>
              </p:cNvPr>
              <p:cNvSpPr/>
              <p:nvPr/>
            </p:nvSpPr>
            <p:spPr>
              <a:xfrm>
                <a:off x="1295544" y="5316677"/>
                <a:ext cx="1309973" cy="516415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60" name="CasellaDiTesto 59">
                <a:extLst>
                  <a:ext uri="{FF2B5EF4-FFF2-40B4-BE49-F238E27FC236}">
                    <a16:creationId xmlns:a16="http://schemas.microsoft.com/office/drawing/2014/main" id="{9E2F4417-12BA-00ED-7B78-4A66292A53B5}"/>
                  </a:ext>
                </a:extLst>
              </p:cNvPr>
              <p:cNvSpPr txBox="1"/>
              <p:nvPr/>
            </p:nvSpPr>
            <p:spPr>
              <a:xfrm>
                <a:off x="1267065" y="5316677"/>
                <a:ext cx="1309973" cy="47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700" b="1" dirty="0"/>
                  <a:t>PASTORIZZATORE REDA </a:t>
                </a:r>
                <a:r>
                  <a:rPr lang="it-IT" sz="700" b="1" dirty="0">
                    <a:solidFill>
                      <a:srgbClr val="FF0000"/>
                    </a:solidFill>
                  </a:rPr>
                  <a:t>CCP1</a:t>
                </a:r>
              </a:p>
              <a:p>
                <a:pPr algn="ctr"/>
                <a:r>
                  <a:rPr lang="it-IT" sz="680" dirty="0"/>
                  <a:t>Limite critico: 71,2°C con 6s di sosta</a:t>
                </a:r>
              </a:p>
              <a:p>
                <a:pPr algn="ctr"/>
                <a:r>
                  <a:rPr lang="it-IT" sz="680" dirty="0"/>
                  <a:t>7000lt/h e 6 sec. ± 1</a:t>
                </a:r>
              </a:p>
            </p:txBody>
          </p:sp>
        </p:grpSp>
        <p:grpSp>
          <p:nvGrpSpPr>
            <p:cNvPr id="29" name="Gruppo 28">
              <a:extLst>
                <a:ext uri="{FF2B5EF4-FFF2-40B4-BE49-F238E27FC236}">
                  <a16:creationId xmlns:a16="http://schemas.microsoft.com/office/drawing/2014/main" id="{5D64ADFE-0EFA-DADC-F1C4-5F155E7C2908}"/>
                </a:ext>
              </a:extLst>
            </p:cNvPr>
            <p:cNvGrpSpPr/>
            <p:nvPr/>
          </p:nvGrpSpPr>
          <p:grpSpPr>
            <a:xfrm>
              <a:off x="4280964" y="5316675"/>
              <a:ext cx="1338452" cy="409343"/>
              <a:chOff x="4280964" y="5316675"/>
              <a:chExt cx="1338452" cy="409343"/>
            </a:xfrm>
          </p:grpSpPr>
          <p:sp>
            <p:nvSpPr>
              <p:cNvPr id="63" name="Elaborazione 62">
                <a:extLst>
                  <a:ext uri="{FF2B5EF4-FFF2-40B4-BE49-F238E27FC236}">
                    <a16:creationId xmlns:a16="http://schemas.microsoft.com/office/drawing/2014/main" id="{E078E7C8-38D8-FA28-9642-A6E97BF0F393}"/>
                  </a:ext>
                </a:extLst>
              </p:cNvPr>
              <p:cNvSpPr/>
              <p:nvPr/>
            </p:nvSpPr>
            <p:spPr>
              <a:xfrm>
                <a:off x="4309443" y="5316675"/>
                <a:ext cx="1309973" cy="406883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64" name="CasellaDiTesto 63">
                <a:extLst>
                  <a:ext uri="{FF2B5EF4-FFF2-40B4-BE49-F238E27FC236}">
                    <a16:creationId xmlns:a16="http://schemas.microsoft.com/office/drawing/2014/main" id="{799A9331-5DB8-6945-058F-E81FCCDEE354}"/>
                  </a:ext>
                </a:extLst>
              </p:cNvPr>
              <p:cNvSpPr txBox="1"/>
              <p:nvPr/>
            </p:nvSpPr>
            <p:spPr>
              <a:xfrm>
                <a:off x="4280964" y="5316675"/>
                <a:ext cx="1309973" cy="409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700" b="1" dirty="0"/>
                  <a:t>STABILIZZAZIONE</a:t>
                </a:r>
                <a:endParaRPr lang="it-IT" sz="7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it-IT" sz="680" dirty="0"/>
                  <a:t>Pastorizzatore tubolare REDA</a:t>
                </a:r>
              </a:p>
              <a:p>
                <a:pPr algn="ctr"/>
                <a:r>
                  <a:rPr lang="it-IT" sz="680" dirty="0"/>
                  <a:t>65°C ± 5</a:t>
                </a:r>
              </a:p>
            </p:txBody>
          </p:sp>
        </p:grpSp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DB9D36FC-3569-F3D2-A187-6D1A27DC7324}"/>
                </a:ext>
              </a:extLst>
            </p:cNvPr>
            <p:cNvGrpSpPr/>
            <p:nvPr/>
          </p:nvGrpSpPr>
          <p:grpSpPr>
            <a:xfrm>
              <a:off x="2792027" y="7496906"/>
              <a:ext cx="1304991" cy="495028"/>
              <a:chOff x="2792027" y="7496906"/>
              <a:chExt cx="1304991" cy="495028"/>
            </a:xfrm>
          </p:grpSpPr>
          <p:sp>
            <p:nvSpPr>
              <p:cNvPr id="82" name="Elaborazione 81">
                <a:extLst>
                  <a:ext uri="{FF2B5EF4-FFF2-40B4-BE49-F238E27FC236}">
                    <a16:creationId xmlns:a16="http://schemas.microsoft.com/office/drawing/2014/main" id="{61DF941E-3E4D-B2C2-F942-99FB05881341}"/>
                  </a:ext>
                </a:extLst>
              </p:cNvPr>
              <p:cNvSpPr/>
              <p:nvPr/>
            </p:nvSpPr>
            <p:spPr>
              <a:xfrm>
                <a:off x="2792958" y="7496906"/>
                <a:ext cx="1304060" cy="495028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83" name="CasellaDiTesto 82">
                <a:extLst>
                  <a:ext uri="{FF2B5EF4-FFF2-40B4-BE49-F238E27FC236}">
                    <a16:creationId xmlns:a16="http://schemas.microsoft.com/office/drawing/2014/main" id="{9A9A781F-5097-0363-CF5E-99F1D5D33187}"/>
                  </a:ext>
                </a:extLst>
              </p:cNvPr>
              <p:cNvSpPr txBox="1"/>
              <p:nvPr/>
            </p:nvSpPr>
            <p:spPr>
              <a:xfrm>
                <a:off x="2792027" y="7531100"/>
                <a:ext cx="130405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800" b="1" dirty="0"/>
                  <a:t>FILTRAZIONE </a:t>
                </a:r>
                <a:r>
                  <a:rPr lang="it-IT" sz="800" b="1" dirty="0">
                    <a:solidFill>
                      <a:srgbClr val="FF0000"/>
                    </a:solidFill>
                  </a:rPr>
                  <a:t>CCP2</a:t>
                </a:r>
              </a:p>
              <a:p>
                <a:pPr algn="ctr"/>
                <a:r>
                  <a:rPr lang="it-IT" sz="700" dirty="0"/>
                  <a:t>Limite critico: corpi estranei non superiori a 3mm</a:t>
                </a:r>
              </a:p>
            </p:txBody>
          </p:sp>
        </p:grpSp>
        <p:grpSp>
          <p:nvGrpSpPr>
            <p:cNvPr id="26" name="Gruppo 25">
              <a:extLst>
                <a:ext uri="{FF2B5EF4-FFF2-40B4-BE49-F238E27FC236}">
                  <a16:creationId xmlns:a16="http://schemas.microsoft.com/office/drawing/2014/main" id="{CCF0F351-7A50-4267-09AB-A7AA9DAA49D7}"/>
                </a:ext>
              </a:extLst>
            </p:cNvPr>
            <p:cNvGrpSpPr/>
            <p:nvPr/>
          </p:nvGrpSpPr>
          <p:grpSpPr>
            <a:xfrm>
              <a:off x="2747015" y="9283570"/>
              <a:ext cx="1389312" cy="409343"/>
              <a:chOff x="2747015" y="9283570"/>
              <a:chExt cx="1389312" cy="409343"/>
            </a:xfrm>
          </p:grpSpPr>
          <p:sp>
            <p:nvSpPr>
              <p:cNvPr id="85" name="Elaborazione 84">
                <a:extLst>
                  <a:ext uri="{FF2B5EF4-FFF2-40B4-BE49-F238E27FC236}">
                    <a16:creationId xmlns:a16="http://schemas.microsoft.com/office/drawing/2014/main" id="{4481F5D0-60C6-B547-4F50-1A56DDD27A97}"/>
                  </a:ext>
                </a:extLst>
              </p:cNvPr>
              <p:cNvSpPr/>
              <p:nvPr/>
            </p:nvSpPr>
            <p:spPr>
              <a:xfrm>
                <a:off x="2805674" y="9314587"/>
                <a:ext cx="1309974" cy="369895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86" name="CasellaDiTesto 85">
                <a:extLst>
                  <a:ext uri="{FF2B5EF4-FFF2-40B4-BE49-F238E27FC236}">
                    <a16:creationId xmlns:a16="http://schemas.microsoft.com/office/drawing/2014/main" id="{2B7B3A3C-E10E-3B5C-1476-EF31BEFFAD69}"/>
                  </a:ext>
                </a:extLst>
              </p:cNvPr>
              <p:cNvSpPr txBox="1"/>
              <p:nvPr/>
            </p:nvSpPr>
            <p:spPr>
              <a:xfrm>
                <a:off x="2747015" y="9283570"/>
                <a:ext cx="1389312" cy="409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700" b="1" dirty="0"/>
                  <a:t>TRAPPOLA MAGNETICA</a:t>
                </a:r>
              </a:p>
              <a:p>
                <a:pPr algn="ctr"/>
                <a:r>
                  <a:rPr lang="it-IT" sz="680" dirty="0"/>
                  <a:t>Tolleranza cattura ≥ 95% di limatura di ferro con ø 1-5mm</a:t>
                </a:r>
              </a:p>
            </p:txBody>
          </p:sp>
        </p:grpSp>
        <p:grpSp>
          <p:nvGrpSpPr>
            <p:cNvPr id="25" name="Gruppo 24">
              <a:extLst>
                <a:ext uri="{FF2B5EF4-FFF2-40B4-BE49-F238E27FC236}">
                  <a16:creationId xmlns:a16="http://schemas.microsoft.com/office/drawing/2014/main" id="{7DDA8C52-1D81-1BD3-C242-B96BCA9884BF}"/>
                </a:ext>
              </a:extLst>
            </p:cNvPr>
            <p:cNvGrpSpPr/>
            <p:nvPr/>
          </p:nvGrpSpPr>
          <p:grpSpPr>
            <a:xfrm>
              <a:off x="2784073" y="9908083"/>
              <a:ext cx="1309974" cy="409343"/>
              <a:chOff x="2784073" y="9908083"/>
              <a:chExt cx="1309974" cy="409343"/>
            </a:xfrm>
          </p:grpSpPr>
          <p:sp>
            <p:nvSpPr>
              <p:cNvPr id="100" name="Elaborazione 99">
                <a:extLst>
                  <a:ext uri="{FF2B5EF4-FFF2-40B4-BE49-F238E27FC236}">
                    <a16:creationId xmlns:a16="http://schemas.microsoft.com/office/drawing/2014/main" id="{F83ABF22-4A16-7DDF-5D79-635F50470D3A}"/>
                  </a:ext>
                </a:extLst>
              </p:cNvPr>
              <p:cNvSpPr/>
              <p:nvPr/>
            </p:nvSpPr>
            <p:spPr>
              <a:xfrm>
                <a:off x="2784073" y="9933425"/>
                <a:ext cx="1309974" cy="369895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01" name="CasellaDiTesto 100">
                <a:extLst>
                  <a:ext uri="{FF2B5EF4-FFF2-40B4-BE49-F238E27FC236}">
                    <a16:creationId xmlns:a16="http://schemas.microsoft.com/office/drawing/2014/main" id="{7182899F-F74C-4D0F-77D0-6B08DF19D99A}"/>
                  </a:ext>
                </a:extLst>
              </p:cNvPr>
              <p:cNvSpPr txBox="1"/>
              <p:nvPr/>
            </p:nvSpPr>
            <p:spPr>
              <a:xfrm>
                <a:off x="2784073" y="9908083"/>
                <a:ext cx="1299804" cy="409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700" b="1" dirty="0"/>
                  <a:t>CONFEZIONAMENTO</a:t>
                </a:r>
              </a:p>
              <a:p>
                <a:pPr algn="ctr"/>
                <a:r>
                  <a:rPr lang="it-IT" sz="680" dirty="0"/>
                  <a:t>RIEMPITRICE ASTEPO</a:t>
                </a:r>
              </a:p>
              <a:p>
                <a:pPr algn="ctr"/>
                <a:r>
                  <a:rPr lang="it-IT" sz="680" dirty="0"/>
                  <a:t>Vedi D 09.01.03</a:t>
                </a:r>
              </a:p>
            </p:txBody>
          </p:sp>
        </p:grpSp>
        <p:grpSp>
          <p:nvGrpSpPr>
            <p:cNvPr id="23" name="Gruppo 22">
              <a:extLst>
                <a:ext uri="{FF2B5EF4-FFF2-40B4-BE49-F238E27FC236}">
                  <a16:creationId xmlns:a16="http://schemas.microsoft.com/office/drawing/2014/main" id="{21D69BC0-341F-D70E-AFE3-36F0D31E29C9}"/>
                </a:ext>
              </a:extLst>
            </p:cNvPr>
            <p:cNvGrpSpPr/>
            <p:nvPr/>
          </p:nvGrpSpPr>
          <p:grpSpPr>
            <a:xfrm>
              <a:off x="2791769" y="10518490"/>
              <a:ext cx="1299804" cy="369332"/>
              <a:chOff x="2791769" y="10518490"/>
              <a:chExt cx="1299804" cy="369332"/>
            </a:xfrm>
          </p:grpSpPr>
          <p:sp>
            <p:nvSpPr>
              <p:cNvPr id="106" name="Rettangolo con angoli arrotondati 105">
                <a:extLst>
                  <a:ext uri="{FF2B5EF4-FFF2-40B4-BE49-F238E27FC236}">
                    <a16:creationId xmlns:a16="http://schemas.microsoft.com/office/drawing/2014/main" id="{DB89E839-9FA4-8524-B113-7343F34E6F7F}"/>
                  </a:ext>
                </a:extLst>
              </p:cNvPr>
              <p:cNvSpPr/>
              <p:nvPr/>
            </p:nvSpPr>
            <p:spPr>
              <a:xfrm>
                <a:off x="2796388" y="10549755"/>
                <a:ext cx="1295183" cy="32447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07" name="CasellaDiTesto 106">
                <a:extLst>
                  <a:ext uri="{FF2B5EF4-FFF2-40B4-BE49-F238E27FC236}">
                    <a16:creationId xmlns:a16="http://schemas.microsoft.com/office/drawing/2014/main" id="{6925C4AD-BEC0-B5BB-4D04-7F65069159FE}"/>
                  </a:ext>
                </a:extLst>
              </p:cNvPr>
              <p:cNvSpPr txBox="1"/>
              <p:nvPr/>
            </p:nvSpPr>
            <p:spPr>
              <a:xfrm>
                <a:off x="2791769" y="10518490"/>
                <a:ext cx="12998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900" b="1" dirty="0"/>
                  <a:t>SUCCO CONCENTRATO CONFEZIONATO</a:t>
                </a:r>
              </a:p>
            </p:txBody>
          </p:sp>
        </p:grpSp>
      </p:grpSp>
      <p:cxnSp>
        <p:nvCxnSpPr>
          <p:cNvPr id="109" name="Connettore 2 108">
            <a:extLst>
              <a:ext uri="{FF2B5EF4-FFF2-40B4-BE49-F238E27FC236}">
                <a16:creationId xmlns:a16="http://schemas.microsoft.com/office/drawing/2014/main" id="{E6D7429D-B57C-13F9-69B2-658D57C55754}"/>
              </a:ext>
            </a:extLst>
          </p:cNvPr>
          <p:cNvCxnSpPr>
            <a:cxnSpLocks/>
            <a:stCxn id="101" idx="2"/>
            <a:endCxn id="107" idx="0"/>
          </p:cNvCxnSpPr>
          <p:nvPr/>
        </p:nvCxnSpPr>
        <p:spPr>
          <a:xfrm>
            <a:off x="3465674" y="10940849"/>
            <a:ext cx="1259" cy="243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o 1">
            <a:extLst>
              <a:ext uri="{FF2B5EF4-FFF2-40B4-BE49-F238E27FC236}">
                <a16:creationId xmlns:a16="http://schemas.microsoft.com/office/drawing/2014/main" id="{CC292835-63C6-1667-70A4-9F807957B792}"/>
              </a:ext>
            </a:extLst>
          </p:cNvPr>
          <p:cNvGrpSpPr/>
          <p:nvPr/>
        </p:nvGrpSpPr>
        <p:grpSpPr>
          <a:xfrm>
            <a:off x="2774013" y="1532568"/>
            <a:ext cx="1304224" cy="415498"/>
            <a:chOff x="1463212" y="2017268"/>
            <a:chExt cx="1309973" cy="415499"/>
          </a:xfrm>
        </p:grpSpPr>
        <p:sp>
          <p:nvSpPr>
            <p:cNvPr id="3" name="Elaborazione 2">
              <a:extLst>
                <a:ext uri="{FF2B5EF4-FFF2-40B4-BE49-F238E27FC236}">
                  <a16:creationId xmlns:a16="http://schemas.microsoft.com/office/drawing/2014/main" id="{BF6649E7-A3E0-FC8E-DC78-2780C40DD091}"/>
                </a:ext>
              </a:extLst>
            </p:cNvPr>
            <p:cNvSpPr/>
            <p:nvPr/>
          </p:nvSpPr>
          <p:spPr>
            <a:xfrm>
              <a:off x="1466390" y="2017268"/>
              <a:ext cx="1276352" cy="406884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sellaDiTesto 19">
                  <a:extLst>
                    <a:ext uri="{FF2B5EF4-FFF2-40B4-BE49-F238E27FC236}">
                      <a16:creationId xmlns:a16="http://schemas.microsoft.com/office/drawing/2014/main" id="{B0D3D087-3D47-6020-D16A-3035D42E3C36}"/>
                    </a:ext>
                  </a:extLst>
                </p:cNvPr>
                <p:cNvSpPr txBox="1"/>
                <p:nvPr/>
              </p:nvSpPr>
              <p:spPr>
                <a:xfrm>
                  <a:off x="1463212" y="2017268"/>
                  <a:ext cx="1309973" cy="415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it-IT" sz="700" b="1" dirty="0"/>
                    <a:t>STOCCAGGIO TEMPORANEO</a:t>
                  </a:r>
                </a:p>
                <a:p>
                  <a:pPr algn="ctr"/>
                  <a:r>
                    <a:rPr lang="it-IT" sz="700" dirty="0"/>
                    <a:t>Tini da 10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it-IT" sz="7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7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it-IT" sz="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a14:m>
                  <a:r>
                    <a:rPr lang="it-IT" sz="700" dirty="0"/>
                    <a:t> o 25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it-IT" sz="7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7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it-IT" sz="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a14:m>
                  <a:r>
                    <a:rPr lang="it-IT" sz="700" dirty="0"/>
                    <a:t> </a:t>
                  </a:r>
                </a:p>
                <a:p>
                  <a:pPr algn="ctr"/>
                  <a:r>
                    <a:rPr lang="it-IT" sz="700" dirty="0"/>
                    <a:t>1 ora/3,5 ore</a:t>
                  </a:r>
                </a:p>
              </p:txBody>
            </p:sp>
          </mc:Choice>
          <mc:Fallback xmlns="">
            <p:sp>
              <p:nvSpPr>
                <p:cNvPr id="20" name="CasellaDiTesto 19">
                  <a:extLst>
                    <a:ext uri="{FF2B5EF4-FFF2-40B4-BE49-F238E27FC236}">
                      <a16:creationId xmlns:a16="http://schemas.microsoft.com/office/drawing/2014/main" id="{B0D3D087-3D47-6020-D16A-3035D42E3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212" y="2017268"/>
                  <a:ext cx="1309973" cy="415499"/>
                </a:xfrm>
                <a:prstGeom prst="rect">
                  <a:avLst/>
                </a:prstGeom>
                <a:blipFill>
                  <a:blip r:embed="rId2"/>
                  <a:stretch>
                    <a:fillRect b="-144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B941B4B9-E5C0-2E94-6F21-0A8DD8A5800E}"/>
              </a:ext>
            </a:extLst>
          </p:cNvPr>
          <p:cNvCxnSpPr>
            <a:cxnSpLocks/>
            <a:stCxn id="6" idx="2"/>
            <a:endCxn id="20" idx="0"/>
          </p:cNvCxnSpPr>
          <p:nvPr/>
        </p:nvCxnSpPr>
        <p:spPr>
          <a:xfrm flipH="1">
            <a:off x="3427443" y="1304180"/>
            <a:ext cx="241" cy="2283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03BEC713-5F90-5EE7-1F0B-873B13BD1239}"/>
              </a:ext>
            </a:extLst>
          </p:cNvPr>
          <p:cNvCxnSpPr>
            <a:cxnSpLocks/>
            <a:stCxn id="20" idx="2"/>
            <a:endCxn id="10" idx="0"/>
          </p:cNvCxnSpPr>
          <p:nvPr/>
        </p:nvCxnSpPr>
        <p:spPr>
          <a:xfrm>
            <a:off x="3438838" y="1948066"/>
            <a:ext cx="180" cy="2283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6E62434-5030-8A9C-E030-ABCBAF2BB81F}"/>
              </a:ext>
            </a:extLst>
          </p:cNvPr>
          <p:cNvSpPr txBox="1"/>
          <p:nvPr/>
        </p:nvSpPr>
        <p:spPr>
          <a:xfrm>
            <a:off x="1022591" y="11724570"/>
            <a:ext cx="4778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VERIFICATO IN DATA:</a:t>
            </a:r>
          </a:p>
        </p:txBody>
      </p:sp>
    </p:spTree>
    <p:extLst>
      <p:ext uri="{BB962C8B-B14F-4D97-AF65-F5344CB8AC3E}">
        <p14:creationId xmlns:p14="http://schemas.microsoft.com/office/powerpoint/2010/main" val="22789932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</TotalTime>
  <Words>244</Words>
  <Application>Microsoft Office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Ufficio Qualità</dc:creator>
  <cp:lastModifiedBy>Ufficio Qualità</cp:lastModifiedBy>
  <cp:revision>5</cp:revision>
  <cp:lastPrinted>2025-01-02T09:13:05Z</cp:lastPrinted>
  <dcterms:created xsi:type="dcterms:W3CDTF">2025-01-02T08:47:53Z</dcterms:created>
  <dcterms:modified xsi:type="dcterms:W3CDTF">2025-01-07T11:51:28Z</dcterms:modified>
</cp:coreProperties>
</file>